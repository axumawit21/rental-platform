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3"/>
  </p:notesMasterIdLst>
  <p:sldIdLst>
    <p:sldId id="266" r:id="rId2"/>
    <p:sldId id="256" r:id="rId3"/>
    <p:sldId id="257" r:id="rId4"/>
    <p:sldId id="258" r:id="rId5"/>
    <p:sldId id="259" r:id="rId6"/>
    <p:sldId id="260" r:id="rId7"/>
    <p:sldId id="261" r:id="rId8"/>
    <p:sldId id="262" r:id="rId9"/>
    <p:sldId id="263" r:id="rId10"/>
    <p:sldId id="264" r:id="rId11"/>
    <p:sldId id="265" r:id="rId12"/>
  </p:sldIdLst>
  <p:sldSz cx="14630400" cy="8229600"/>
  <p:notesSz cx="8229600" cy="14630400"/>
  <p:embeddedFontLst>
    <p:embeddedFont>
      <p:font typeface="Calibri" panose="020F0502020204030204" pitchFamily="34" charset="0"/>
      <p:regular r:id="rId14"/>
      <p:bold r:id="rId15"/>
      <p:italic r:id="rId16"/>
      <p:boldItalic r:id="rId17"/>
    </p:embeddedFont>
    <p:embeddedFont>
      <p:font typeface="Libre Baskerville" panose="020B0604020202020204" charset="0"/>
      <p:regular r:id="rId18"/>
    </p:embeddedFont>
    <p:embeddedFont>
      <p:font typeface="Open Sans" panose="020B0604020202020204" charset="0"/>
      <p:regular r:id="rId19"/>
    </p:embeddedFont>
    <p:embeddedFont>
      <p:font typeface="Segoe UI Semibold" panose="020B0702040204020203" pitchFamily="34" charset="0"/>
      <p:bold r:id="rId20"/>
      <p:boldItalic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66" d="100"/>
          <a:sy n="66" d="100"/>
        </p:scale>
        <p:origin x="792"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font" Target="fonts/font8.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050117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4F0FF"/>
          </a:solidFill>
          <a:ln/>
        </p:spPr>
      </p:sp>
      <p:sp>
        <p:nvSpPr>
          <p:cNvPr id="3" name="Shape 1"/>
          <p:cNvSpPr/>
          <p:nvPr/>
        </p:nvSpPr>
        <p:spPr>
          <a:xfrm>
            <a:off x="0" y="0"/>
            <a:ext cx="14630400" cy="8229600"/>
          </a:xfrm>
          <a:prstGeom prst="rect">
            <a:avLst/>
          </a:prstGeom>
          <a:solidFill>
            <a:srgbClr val="FBFA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4F0FF"/>
          </a:solidFill>
          <a:ln/>
        </p:spPr>
      </p:sp>
      <p:sp>
        <p:nvSpPr>
          <p:cNvPr id="3" name="Shape 1"/>
          <p:cNvSpPr/>
          <p:nvPr/>
        </p:nvSpPr>
        <p:spPr>
          <a:xfrm>
            <a:off x="0" y="0"/>
            <a:ext cx="14630400" cy="8229600"/>
          </a:xfrm>
          <a:prstGeom prst="rect">
            <a:avLst/>
          </a:prstGeom>
          <a:solidFill>
            <a:srgbClr val="FBFA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4F0FF"/>
          </a:solidFill>
          <a:ln/>
        </p:spPr>
      </p:sp>
      <p:sp>
        <p:nvSpPr>
          <p:cNvPr id="3" name="Shape 1"/>
          <p:cNvSpPr/>
          <p:nvPr/>
        </p:nvSpPr>
        <p:spPr>
          <a:xfrm>
            <a:off x="0" y="0"/>
            <a:ext cx="14630400" cy="8229600"/>
          </a:xfrm>
          <a:prstGeom prst="rect">
            <a:avLst/>
          </a:prstGeom>
          <a:solidFill>
            <a:srgbClr val="FBFA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4F0FF"/>
          </a:solidFill>
          <a:ln/>
        </p:spPr>
      </p:sp>
      <p:sp>
        <p:nvSpPr>
          <p:cNvPr id="3" name="Shape 1"/>
          <p:cNvSpPr/>
          <p:nvPr/>
        </p:nvSpPr>
        <p:spPr>
          <a:xfrm>
            <a:off x="0" y="0"/>
            <a:ext cx="14630400" cy="8229600"/>
          </a:xfrm>
          <a:prstGeom prst="rect">
            <a:avLst/>
          </a:prstGeom>
          <a:solidFill>
            <a:srgbClr val="FBFA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4F0FF"/>
          </a:solidFill>
          <a:ln/>
        </p:spPr>
      </p:sp>
      <p:sp>
        <p:nvSpPr>
          <p:cNvPr id="3" name="Shape 1"/>
          <p:cNvSpPr/>
          <p:nvPr/>
        </p:nvSpPr>
        <p:spPr>
          <a:xfrm>
            <a:off x="0" y="0"/>
            <a:ext cx="14630400" cy="8229600"/>
          </a:xfrm>
          <a:prstGeom prst="rect">
            <a:avLst/>
          </a:prstGeom>
          <a:solidFill>
            <a:srgbClr val="FBFA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4F0FF"/>
          </a:solidFill>
          <a:ln/>
        </p:spPr>
      </p:sp>
      <p:sp>
        <p:nvSpPr>
          <p:cNvPr id="3" name="Shape 1"/>
          <p:cNvSpPr/>
          <p:nvPr/>
        </p:nvSpPr>
        <p:spPr>
          <a:xfrm>
            <a:off x="0" y="0"/>
            <a:ext cx="14630400" cy="8229600"/>
          </a:xfrm>
          <a:prstGeom prst="rect">
            <a:avLst/>
          </a:prstGeom>
          <a:solidFill>
            <a:srgbClr val="FBFA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4F0FF"/>
          </a:solidFill>
          <a:ln/>
        </p:spPr>
      </p:sp>
      <p:sp>
        <p:nvSpPr>
          <p:cNvPr id="3" name="Shape 1"/>
          <p:cNvSpPr/>
          <p:nvPr/>
        </p:nvSpPr>
        <p:spPr>
          <a:xfrm>
            <a:off x="0" y="0"/>
            <a:ext cx="14630400" cy="8229600"/>
          </a:xfrm>
          <a:prstGeom prst="rect">
            <a:avLst/>
          </a:prstGeom>
          <a:solidFill>
            <a:srgbClr val="FBFA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4F0FF"/>
          </a:solidFill>
          <a:ln/>
        </p:spPr>
      </p:sp>
      <p:sp>
        <p:nvSpPr>
          <p:cNvPr id="3" name="Shape 1"/>
          <p:cNvSpPr/>
          <p:nvPr/>
        </p:nvSpPr>
        <p:spPr>
          <a:xfrm>
            <a:off x="0" y="0"/>
            <a:ext cx="14630400" cy="8229600"/>
          </a:xfrm>
          <a:prstGeom prst="rect">
            <a:avLst/>
          </a:prstGeom>
          <a:solidFill>
            <a:srgbClr val="FBFA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4F0FF"/>
          </a:solidFill>
          <a:ln/>
        </p:spPr>
      </p:sp>
      <p:sp>
        <p:nvSpPr>
          <p:cNvPr id="3" name="Shape 1"/>
          <p:cNvSpPr/>
          <p:nvPr/>
        </p:nvSpPr>
        <p:spPr>
          <a:xfrm>
            <a:off x="0" y="0"/>
            <a:ext cx="14630400" cy="8229600"/>
          </a:xfrm>
          <a:prstGeom prst="rect">
            <a:avLst/>
          </a:prstGeom>
          <a:solidFill>
            <a:srgbClr val="FBFA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4F0FF"/>
          </a:solidFill>
          <a:ln/>
        </p:spPr>
      </p:sp>
      <p:sp>
        <p:nvSpPr>
          <p:cNvPr id="3" name="Shape 1"/>
          <p:cNvSpPr/>
          <p:nvPr/>
        </p:nvSpPr>
        <p:spPr>
          <a:xfrm>
            <a:off x="0" y="0"/>
            <a:ext cx="14630400" cy="8229600"/>
          </a:xfrm>
          <a:prstGeom prst="rect">
            <a:avLst/>
          </a:prstGeom>
          <a:solidFill>
            <a:srgbClr val="FBFA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8.xml"/><Relationship Id="rId5" Type="http://schemas.openxmlformats.org/officeDocument/2006/relationships/image" Target="../media/image5.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B1CF0A8-E5A3-4092-83EE-4BEE535786CF}"/>
              </a:ext>
            </a:extLst>
          </p:cNvPr>
          <p:cNvSpPr/>
          <p:nvPr/>
        </p:nvSpPr>
        <p:spPr>
          <a:xfrm>
            <a:off x="2928395" y="313514"/>
            <a:ext cx="7315200" cy="1482970"/>
          </a:xfrm>
          <a:prstGeom prst="rect">
            <a:avLst/>
          </a:prstGeom>
        </p:spPr>
        <p:txBody>
          <a:bodyPr>
            <a:spAutoFit/>
          </a:bodyPr>
          <a:lstStyle/>
          <a:p>
            <a:pPr algn="ctr">
              <a:lnSpc>
                <a:spcPct val="107000"/>
              </a:lnSpc>
              <a:spcAft>
                <a:spcPts val="800"/>
              </a:spcAft>
            </a:pPr>
            <a:r>
              <a:rPr lang="en-US" sz="4000" b="1" kern="100" dirty="0">
                <a:ea typeface="Calibri" panose="020F0502020204030204" pitchFamily="34" charset="0"/>
                <a:cs typeface="Arial" panose="020B0604020202020204" pitchFamily="34" charset="0"/>
              </a:rPr>
              <a:t>Mekelle University</a:t>
            </a:r>
          </a:p>
          <a:p>
            <a:pPr algn="ctr">
              <a:lnSpc>
                <a:spcPct val="107000"/>
              </a:lnSpc>
              <a:spcAft>
                <a:spcPts val="800"/>
              </a:spcAft>
            </a:pPr>
            <a:r>
              <a:rPr lang="en-US" sz="4000" b="1" kern="100" dirty="0">
                <a:ea typeface="Calibri" panose="020F0502020204030204" pitchFamily="34" charset="0"/>
                <a:cs typeface="Arial" panose="020B0604020202020204" pitchFamily="34" charset="0"/>
              </a:rPr>
              <a:t>Mekelle Institute of Technology</a:t>
            </a:r>
          </a:p>
        </p:txBody>
      </p:sp>
      <p:sp>
        <p:nvSpPr>
          <p:cNvPr id="3" name="Rectangle 2">
            <a:extLst>
              <a:ext uri="{FF2B5EF4-FFF2-40B4-BE49-F238E27FC236}">
                <a16:creationId xmlns:a16="http://schemas.microsoft.com/office/drawing/2014/main" id="{6B956FB7-3BCA-4ED0-A09D-EC122B0DD8AE}"/>
              </a:ext>
            </a:extLst>
          </p:cNvPr>
          <p:cNvSpPr/>
          <p:nvPr/>
        </p:nvSpPr>
        <p:spPr>
          <a:xfrm>
            <a:off x="1875099" y="3967728"/>
            <a:ext cx="8368496" cy="3523209"/>
          </a:xfrm>
          <a:prstGeom prst="rect">
            <a:avLst/>
          </a:prstGeom>
        </p:spPr>
        <p:txBody>
          <a:bodyPr wrap="square">
            <a:spAutoFit/>
          </a:bodyPr>
          <a:lstStyle/>
          <a:p>
            <a:pPr marL="88265" marR="0">
              <a:tabLst>
                <a:tab pos="3465830" algn="l"/>
              </a:tabLst>
            </a:pPr>
            <a:r>
              <a:rPr lang="en-US" sz="2400" b="1" spc="-20" dirty="0">
                <a:effectLst/>
                <a:latin typeface="Times New Roman" panose="02020603050405020304" pitchFamily="18" charset="0"/>
                <a:ea typeface="Times New Roman" panose="02020603050405020304" pitchFamily="18" charset="0"/>
              </a:rPr>
              <a:t>Group members:</a:t>
            </a:r>
            <a:endParaRPr lang="en-US" sz="2400" b="1" dirty="0">
              <a:effectLst/>
              <a:latin typeface="Times New Roman" panose="02020603050405020304" pitchFamily="18" charset="0"/>
              <a:ea typeface="Times New Roman" panose="02020603050405020304" pitchFamily="18" charset="0"/>
            </a:endParaRPr>
          </a:p>
          <a:p>
            <a:pPr marL="88265" marR="0">
              <a:tabLst>
                <a:tab pos="3465830" algn="l"/>
              </a:tabLst>
            </a:pPr>
            <a:r>
              <a:rPr lang="en-US" sz="2400" b="1" spc="-20" dirty="0">
                <a:effectLst/>
                <a:latin typeface="Times New Roman" panose="02020603050405020304" pitchFamily="18" charset="0"/>
                <a:ea typeface="Times New Roman" panose="02020603050405020304" pitchFamily="18" charset="0"/>
              </a:rPr>
              <a:t>Name</a:t>
            </a:r>
            <a:r>
              <a:rPr lang="en-US" sz="2400" b="1" dirty="0">
                <a:effectLst/>
                <a:latin typeface="Times New Roman" panose="02020603050405020304" pitchFamily="18" charset="0"/>
                <a:ea typeface="Times New Roman" panose="02020603050405020304" pitchFamily="18" charset="0"/>
              </a:rPr>
              <a:t>	</a:t>
            </a:r>
            <a:r>
              <a:rPr lang="en-US" sz="2400" b="1" spc="-25" dirty="0">
                <a:effectLst/>
                <a:latin typeface="Times New Roman" panose="02020603050405020304" pitchFamily="18" charset="0"/>
                <a:ea typeface="Times New Roman" panose="02020603050405020304" pitchFamily="18" charset="0"/>
              </a:rPr>
              <a:t>ID</a:t>
            </a:r>
            <a:endParaRPr lang="en-US" sz="2400" b="1" dirty="0">
              <a:effectLst/>
              <a:latin typeface="Times New Roman" panose="02020603050405020304" pitchFamily="18" charset="0"/>
              <a:ea typeface="Times New Roman" panose="02020603050405020304" pitchFamily="18" charset="0"/>
            </a:endParaRPr>
          </a:p>
          <a:p>
            <a:pPr marR="0" lvl="0">
              <a:spcBef>
                <a:spcPts val="1380"/>
              </a:spcBef>
              <a:spcAft>
                <a:spcPts val="0"/>
              </a:spcAft>
              <a:buSzPts val="1300"/>
              <a:tabLst>
                <a:tab pos="133350" algn="l"/>
                <a:tab pos="3068320" algn="l"/>
              </a:tabLst>
            </a:pPr>
            <a:r>
              <a:rPr lang="en-US" sz="2400" dirty="0">
                <a:latin typeface="Times New Roman" panose="02020603050405020304" pitchFamily="18" charset="0"/>
                <a:ea typeface="Times New Roman" panose="02020603050405020304" pitchFamily="18" charset="0"/>
              </a:rPr>
              <a:t>1. </a:t>
            </a:r>
            <a:r>
              <a:rPr lang="en-US" sz="2400" dirty="0" err="1">
                <a:latin typeface="Times New Roman" panose="02020603050405020304" pitchFamily="18" charset="0"/>
                <a:ea typeface="Times New Roman" panose="02020603050405020304" pitchFamily="18" charset="0"/>
              </a:rPr>
              <a:t>Yordanos</a:t>
            </a:r>
            <a:r>
              <a:rPr lang="en-US" sz="2400" dirty="0">
                <a:latin typeface="Times New Roman" panose="02020603050405020304" pitchFamily="18" charset="0"/>
                <a:ea typeface="Times New Roman" panose="02020603050405020304" pitchFamily="18" charset="0"/>
              </a:rPr>
              <a:t> Hagos	</a:t>
            </a:r>
            <a:r>
              <a:rPr lang="en-US" sz="2400" spc="-10" dirty="0" err="1">
                <a:latin typeface="Times New Roman" panose="02020603050405020304" pitchFamily="18" charset="0"/>
                <a:ea typeface="Times New Roman" panose="02020603050405020304" pitchFamily="18" charset="0"/>
              </a:rPr>
              <a:t>mit</a:t>
            </a:r>
            <a:r>
              <a:rPr lang="en-US" sz="2400" spc="-10" dirty="0">
                <a:latin typeface="Times New Roman" panose="02020603050405020304" pitchFamily="18" charset="0"/>
                <a:ea typeface="Times New Roman" panose="02020603050405020304" pitchFamily="18" charset="0"/>
              </a:rPr>
              <a:t>/</a:t>
            </a:r>
            <a:r>
              <a:rPr lang="en-US" sz="2400" spc="-10" dirty="0" err="1">
                <a:latin typeface="Times New Roman" panose="02020603050405020304" pitchFamily="18" charset="0"/>
                <a:ea typeface="Times New Roman" panose="02020603050405020304" pitchFamily="18" charset="0"/>
              </a:rPr>
              <a:t>ur</a:t>
            </a:r>
            <a:r>
              <a:rPr lang="en-US" sz="2400" spc="-10" dirty="0">
                <a:latin typeface="Times New Roman" panose="02020603050405020304" pitchFamily="18" charset="0"/>
                <a:ea typeface="Times New Roman" panose="02020603050405020304" pitchFamily="18" charset="0"/>
              </a:rPr>
              <a:t>/148/12</a:t>
            </a:r>
            <a:endParaRPr lang="en-US" sz="2400" spc="0" dirty="0">
              <a:effectLst/>
              <a:latin typeface="Times New Roman" panose="02020603050405020304" pitchFamily="18" charset="0"/>
              <a:ea typeface="Times New Roman" panose="02020603050405020304" pitchFamily="18" charset="0"/>
            </a:endParaRPr>
          </a:p>
          <a:p>
            <a:pPr marR="0" lvl="0">
              <a:spcBef>
                <a:spcPts val="1390"/>
              </a:spcBef>
              <a:spcAft>
                <a:spcPts val="0"/>
              </a:spcAft>
              <a:buSzPts val="1300"/>
              <a:tabLst>
                <a:tab pos="133350" algn="l"/>
                <a:tab pos="3039110" algn="l"/>
              </a:tabLst>
            </a:pPr>
            <a:r>
              <a:rPr lang="en-US" sz="2400" dirty="0">
                <a:latin typeface="Times New Roman" panose="02020603050405020304" pitchFamily="18" charset="0"/>
                <a:ea typeface="Times New Roman" panose="02020603050405020304" pitchFamily="18" charset="0"/>
              </a:rPr>
              <a:t>2. </a:t>
            </a:r>
            <a:r>
              <a:rPr lang="en-US" sz="2400" dirty="0" err="1">
                <a:latin typeface="Times New Roman" panose="02020603050405020304" pitchFamily="18" charset="0"/>
                <a:ea typeface="Times New Roman" panose="02020603050405020304" pitchFamily="18" charset="0"/>
              </a:rPr>
              <a:t>Axumawit</a:t>
            </a:r>
            <a:r>
              <a:rPr lang="en-US" sz="2400" dirty="0">
                <a:latin typeface="Times New Roman" panose="02020603050405020304" pitchFamily="18" charset="0"/>
                <a:ea typeface="Times New Roman" panose="02020603050405020304" pitchFamily="18" charset="0"/>
              </a:rPr>
              <a:t> </a:t>
            </a:r>
            <a:r>
              <a:rPr lang="en-US" sz="2400" dirty="0" err="1">
                <a:latin typeface="Times New Roman" panose="02020603050405020304" pitchFamily="18" charset="0"/>
                <a:ea typeface="Times New Roman" panose="02020603050405020304" pitchFamily="18" charset="0"/>
              </a:rPr>
              <a:t>Leake</a:t>
            </a:r>
            <a:r>
              <a:rPr lang="en-US" sz="2400" dirty="0">
                <a:latin typeface="Times New Roman" panose="02020603050405020304" pitchFamily="18" charset="0"/>
                <a:ea typeface="Times New Roman" panose="02020603050405020304" pitchFamily="18" charset="0"/>
              </a:rPr>
              <a:t>	 </a:t>
            </a:r>
            <a:r>
              <a:rPr lang="en-US" sz="2400" spc="-10" dirty="0" err="1">
                <a:latin typeface="Times New Roman" panose="02020603050405020304" pitchFamily="18" charset="0"/>
                <a:ea typeface="Times New Roman" panose="02020603050405020304" pitchFamily="18" charset="0"/>
              </a:rPr>
              <a:t>mit</a:t>
            </a:r>
            <a:r>
              <a:rPr lang="en-US" sz="2400" spc="-10" dirty="0">
                <a:latin typeface="Times New Roman" panose="02020603050405020304" pitchFamily="18" charset="0"/>
                <a:ea typeface="Times New Roman" panose="02020603050405020304" pitchFamily="18" charset="0"/>
              </a:rPr>
              <a:t>/</a:t>
            </a:r>
            <a:r>
              <a:rPr lang="en-US" sz="2400" spc="-10" dirty="0" err="1">
                <a:latin typeface="Times New Roman" panose="02020603050405020304" pitchFamily="18" charset="0"/>
                <a:ea typeface="Times New Roman" panose="02020603050405020304" pitchFamily="18" charset="0"/>
              </a:rPr>
              <a:t>ur</a:t>
            </a:r>
            <a:r>
              <a:rPr lang="en-US" sz="2400" spc="-10" dirty="0">
                <a:latin typeface="Times New Roman" panose="02020603050405020304" pitchFamily="18" charset="0"/>
                <a:ea typeface="Times New Roman" panose="02020603050405020304" pitchFamily="18" charset="0"/>
              </a:rPr>
              <a:t>/018/12</a:t>
            </a:r>
            <a:endParaRPr lang="en-US" sz="2400" spc="0" dirty="0">
              <a:effectLst/>
              <a:latin typeface="Times New Roman" panose="02020603050405020304" pitchFamily="18" charset="0"/>
              <a:ea typeface="Times New Roman" panose="02020603050405020304" pitchFamily="18" charset="0"/>
            </a:endParaRPr>
          </a:p>
          <a:p>
            <a:pPr marR="0" lvl="0">
              <a:spcBef>
                <a:spcPts val="1405"/>
              </a:spcBef>
              <a:spcAft>
                <a:spcPts val="0"/>
              </a:spcAft>
              <a:buSzPts val="1300"/>
              <a:tabLst>
                <a:tab pos="133350" algn="l"/>
                <a:tab pos="3053080" algn="l"/>
              </a:tabLst>
            </a:pPr>
            <a:r>
              <a:rPr lang="en-US" sz="2400" dirty="0">
                <a:latin typeface="Times New Roman" panose="02020603050405020304" pitchFamily="18" charset="0"/>
                <a:ea typeface="Times New Roman" panose="02020603050405020304" pitchFamily="18" charset="0"/>
              </a:rPr>
              <a:t>3. </a:t>
            </a:r>
            <a:r>
              <a:rPr lang="en-US" sz="2400" dirty="0" err="1">
                <a:latin typeface="Times New Roman" panose="02020603050405020304" pitchFamily="18" charset="0"/>
                <a:ea typeface="Times New Roman" panose="02020603050405020304" pitchFamily="18" charset="0"/>
              </a:rPr>
              <a:t>Halefom</a:t>
            </a:r>
            <a:r>
              <a:rPr lang="en-US" sz="2400" dirty="0">
                <a:latin typeface="Times New Roman" panose="02020603050405020304" pitchFamily="18" charset="0"/>
                <a:ea typeface="Times New Roman" panose="02020603050405020304" pitchFamily="18" charset="0"/>
              </a:rPr>
              <a:t> </a:t>
            </a:r>
            <a:r>
              <a:rPr lang="en-US" sz="2400" dirty="0" err="1">
                <a:latin typeface="Times New Roman" panose="02020603050405020304" pitchFamily="18" charset="0"/>
                <a:ea typeface="Times New Roman" panose="02020603050405020304" pitchFamily="18" charset="0"/>
              </a:rPr>
              <a:t>Haregot</a:t>
            </a:r>
            <a:r>
              <a:rPr lang="en-US" sz="2400" dirty="0">
                <a:latin typeface="Times New Roman" panose="02020603050405020304" pitchFamily="18" charset="0"/>
                <a:ea typeface="Times New Roman" panose="02020603050405020304" pitchFamily="18" charset="0"/>
              </a:rPr>
              <a:t>	 </a:t>
            </a:r>
            <a:r>
              <a:rPr lang="en-US" sz="2400" spc="-10" dirty="0" err="1">
                <a:latin typeface="Times New Roman" panose="02020603050405020304" pitchFamily="18" charset="0"/>
                <a:ea typeface="Times New Roman" panose="02020603050405020304" pitchFamily="18" charset="0"/>
              </a:rPr>
              <a:t>mit</a:t>
            </a:r>
            <a:r>
              <a:rPr lang="en-US" sz="2400" spc="-10" dirty="0">
                <a:latin typeface="Times New Roman" panose="02020603050405020304" pitchFamily="18" charset="0"/>
                <a:ea typeface="Times New Roman" panose="02020603050405020304" pitchFamily="18" charset="0"/>
              </a:rPr>
              <a:t>/</a:t>
            </a:r>
            <a:r>
              <a:rPr lang="en-US" sz="2400" spc="-10" dirty="0" err="1">
                <a:latin typeface="Times New Roman" panose="02020603050405020304" pitchFamily="18" charset="0"/>
                <a:ea typeface="Times New Roman" panose="02020603050405020304" pitchFamily="18" charset="0"/>
              </a:rPr>
              <a:t>ur</a:t>
            </a:r>
            <a:r>
              <a:rPr lang="en-US" sz="2400" spc="-10" dirty="0">
                <a:latin typeface="Times New Roman" panose="02020603050405020304" pitchFamily="18" charset="0"/>
                <a:ea typeface="Times New Roman" panose="02020603050405020304" pitchFamily="18" charset="0"/>
              </a:rPr>
              <a:t>/070/12</a:t>
            </a:r>
            <a:endParaRPr lang="en-US" sz="2400" spc="0" dirty="0">
              <a:effectLst/>
              <a:latin typeface="Times New Roman" panose="02020603050405020304" pitchFamily="18" charset="0"/>
              <a:ea typeface="Times New Roman" panose="02020603050405020304" pitchFamily="18" charset="0"/>
            </a:endParaRPr>
          </a:p>
          <a:p>
            <a:pPr marR="0" lvl="0">
              <a:spcBef>
                <a:spcPts val="1400"/>
              </a:spcBef>
              <a:spcAft>
                <a:spcPts val="0"/>
              </a:spcAft>
              <a:buSzPts val="1300"/>
              <a:tabLst>
                <a:tab pos="133350" algn="l"/>
                <a:tab pos="3091180" algn="l"/>
              </a:tabLst>
            </a:pPr>
            <a:r>
              <a:rPr lang="en-US" sz="2400" dirty="0">
                <a:latin typeface="Times New Roman" panose="02020603050405020304" pitchFamily="18" charset="0"/>
                <a:ea typeface="Times New Roman" panose="02020603050405020304" pitchFamily="18" charset="0"/>
              </a:rPr>
              <a:t>4. </a:t>
            </a:r>
            <a:r>
              <a:rPr lang="en-US" sz="2400" dirty="0" err="1">
                <a:latin typeface="Times New Roman" panose="02020603050405020304" pitchFamily="18" charset="0"/>
                <a:ea typeface="Times New Roman" panose="02020603050405020304" pitchFamily="18" charset="0"/>
              </a:rPr>
              <a:t>Shewit</a:t>
            </a:r>
            <a:r>
              <a:rPr lang="en-US" sz="2400" dirty="0">
                <a:latin typeface="Times New Roman" panose="02020603050405020304" pitchFamily="18" charset="0"/>
                <a:ea typeface="Times New Roman" panose="02020603050405020304" pitchFamily="18" charset="0"/>
              </a:rPr>
              <a:t> </a:t>
            </a:r>
            <a:r>
              <a:rPr lang="en-US" sz="2400" dirty="0" err="1">
                <a:latin typeface="Times New Roman" panose="02020603050405020304" pitchFamily="18" charset="0"/>
                <a:ea typeface="Times New Roman" panose="02020603050405020304" pitchFamily="18" charset="0"/>
              </a:rPr>
              <a:t>Grmay</a:t>
            </a:r>
            <a:r>
              <a:rPr lang="en-US" sz="2400" dirty="0">
                <a:latin typeface="Times New Roman" panose="02020603050405020304" pitchFamily="18" charset="0"/>
                <a:ea typeface="Times New Roman" panose="02020603050405020304" pitchFamily="18" charset="0"/>
              </a:rPr>
              <a:t>	</a:t>
            </a:r>
            <a:r>
              <a:rPr lang="en-US" sz="2400" spc="-10" dirty="0" err="1">
                <a:latin typeface="Times New Roman" panose="02020603050405020304" pitchFamily="18" charset="0"/>
                <a:ea typeface="Times New Roman" panose="02020603050405020304" pitchFamily="18" charset="0"/>
              </a:rPr>
              <a:t>mit</a:t>
            </a:r>
            <a:r>
              <a:rPr lang="en-US" sz="2400" spc="-10" dirty="0">
                <a:latin typeface="Times New Roman" panose="02020603050405020304" pitchFamily="18" charset="0"/>
                <a:ea typeface="Times New Roman" panose="02020603050405020304" pitchFamily="18" charset="0"/>
              </a:rPr>
              <a:t>/</a:t>
            </a:r>
            <a:r>
              <a:rPr lang="en-US" sz="2400" spc="-10" dirty="0" err="1">
                <a:latin typeface="Times New Roman" panose="02020603050405020304" pitchFamily="18" charset="0"/>
                <a:ea typeface="Times New Roman" panose="02020603050405020304" pitchFamily="18" charset="0"/>
              </a:rPr>
              <a:t>ur</a:t>
            </a:r>
            <a:r>
              <a:rPr lang="en-US" sz="2400" spc="-10" dirty="0">
                <a:latin typeface="Times New Roman" panose="02020603050405020304" pitchFamily="18" charset="0"/>
                <a:ea typeface="Times New Roman" panose="02020603050405020304" pitchFamily="18" charset="0"/>
              </a:rPr>
              <a:t>/268/12</a:t>
            </a:r>
            <a:endParaRPr lang="en-US" sz="2400" spc="0" dirty="0">
              <a:effectLst/>
              <a:latin typeface="Times New Roman" panose="02020603050405020304" pitchFamily="18" charset="0"/>
              <a:ea typeface="Times New Roman" panose="02020603050405020304" pitchFamily="18" charset="0"/>
            </a:endParaRPr>
          </a:p>
          <a:p>
            <a:pPr>
              <a:lnSpc>
                <a:spcPct val="150000"/>
              </a:lnSpc>
            </a:pPr>
            <a:r>
              <a:rPr lang="en-US" sz="2400" dirty="0">
                <a:latin typeface="Calibri" panose="020F0502020204030204" pitchFamily="34" charset="0"/>
                <a:ea typeface="Calibri" panose="020F0502020204030204" pitchFamily="34" charset="0"/>
                <a:cs typeface="Arial" panose="020B0604020202020204" pitchFamily="34" charset="0"/>
              </a:rPr>
              <a:t>5.  </a:t>
            </a:r>
            <a:r>
              <a:rPr lang="en-US" sz="2400" dirty="0" err="1">
                <a:latin typeface="Calibri" panose="020F0502020204030204" pitchFamily="34" charset="0"/>
                <a:ea typeface="Calibri" panose="020F0502020204030204" pitchFamily="34" charset="0"/>
                <a:cs typeface="Arial" panose="020B0604020202020204" pitchFamily="34" charset="0"/>
              </a:rPr>
              <a:t>Niema</a:t>
            </a:r>
            <a:r>
              <a:rPr lang="en-US" sz="2400" dirty="0">
                <a:latin typeface="Calibri" panose="020F0502020204030204" pitchFamily="34" charset="0"/>
                <a:ea typeface="Calibri" panose="020F0502020204030204" pitchFamily="34" charset="0"/>
                <a:cs typeface="Arial" panose="020B0604020202020204" pitchFamily="34" charset="0"/>
              </a:rPr>
              <a:t> </a:t>
            </a:r>
            <a:r>
              <a:rPr lang="en-US" sz="2400" dirty="0" err="1">
                <a:latin typeface="Calibri" panose="020F0502020204030204" pitchFamily="34" charset="0"/>
                <a:ea typeface="Calibri" panose="020F0502020204030204" pitchFamily="34" charset="0"/>
                <a:cs typeface="Arial" panose="020B0604020202020204" pitchFamily="34" charset="0"/>
              </a:rPr>
              <a:t>Kedir</a:t>
            </a:r>
            <a:r>
              <a:rPr lang="en-US" sz="2400" dirty="0">
                <a:latin typeface="Calibri" panose="020F0502020204030204" pitchFamily="34" charset="0"/>
                <a:ea typeface="Calibri" panose="020F0502020204030204" pitchFamily="34" charset="0"/>
                <a:cs typeface="Arial" panose="020B0604020202020204" pitchFamily="34" charset="0"/>
              </a:rPr>
              <a:t>	     </a:t>
            </a:r>
            <a:r>
              <a:rPr lang="en-US" sz="2400" spc="-10" dirty="0" err="1">
                <a:latin typeface="Calibri" panose="020F0502020204030204" pitchFamily="34" charset="0"/>
                <a:ea typeface="Calibri" panose="020F0502020204030204" pitchFamily="34" charset="0"/>
                <a:cs typeface="Arial" panose="020B0604020202020204" pitchFamily="34" charset="0"/>
              </a:rPr>
              <a:t>mit</a:t>
            </a:r>
            <a:r>
              <a:rPr lang="en-US" sz="2400" spc="-10" dirty="0">
                <a:latin typeface="Calibri" panose="020F0502020204030204" pitchFamily="34" charset="0"/>
                <a:ea typeface="Calibri" panose="020F0502020204030204" pitchFamily="34" charset="0"/>
                <a:cs typeface="Arial" panose="020B0604020202020204" pitchFamily="34" charset="0"/>
              </a:rPr>
              <a:t>/</a:t>
            </a:r>
            <a:r>
              <a:rPr lang="en-US" sz="2400" spc="-10" dirty="0" err="1">
                <a:latin typeface="Calibri" panose="020F0502020204030204" pitchFamily="34" charset="0"/>
                <a:ea typeface="Calibri" panose="020F0502020204030204" pitchFamily="34" charset="0"/>
                <a:cs typeface="Arial" panose="020B0604020202020204" pitchFamily="34" charset="0"/>
              </a:rPr>
              <a:t>ur</a:t>
            </a:r>
            <a:r>
              <a:rPr lang="en-US" sz="2400" spc="-10" dirty="0">
                <a:latin typeface="Calibri" panose="020F0502020204030204" pitchFamily="34" charset="0"/>
                <a:ea typeface="Calibri" panose="020F0502020204030204" pitchFamily="34" charset="0"/>
                <a:cs typeface="Arial" panose="020B0604020202020204" pitchFamily="34" charset="0"/>
              </a:rPr>
              <a:t>/168/12</a:t>
            </a:r>
            <a:endParaRPr lang="en-US" sz="2400" dirty="0"/>
          </a:p>
        </p:txBody>
      </p:sp>
      <p:sp>
        <p:nvSpPr>
          <p:cNvPr id="4" name="Rectangle 3">
            <a:extLst>
              <a:ext uri="{FF2B5EF4-FFF2-40B4-BE49-F238E27FC236}">
                <a16:creationId xmlns:a16="http://schemas.microsoft.com/office/drawing/2014/main" id="{DEC99CB3-0245-448C-8913-BA007C3AB1AE}"/>
              </a:ext>
            </a:extLst>
          </p:cNvPr>
          <p:cNvSpPr/>
          <p:nvPr/>
        </p:nvSpPr>
        <p:spPr>
          <a:xfrm>
            <a:off x="1875099" y="2698658"/>
            <a:ext cx="6589176" cy="519438"/>
          </a:xfrm>
          <a:prstGeom prst="rect">
            <a:avLst/>
          </a:prstGeom>
        </p:spPr>
        <p:txBody>
          <a:bodyPr wrap="none">
            <a:spAutoFit/>
          </a:bodyPr>
          <a:lstStyle/>
          <a:p>
            <a:pPr>
              <a:lnSpc>
                <a:spcPct val="107000"/>
              </a:lnSpc>
              <a:spcAft>
                <a:spcPts val="800"/>
              </a:spcAft>
            </a:pPr>
            <a:r>
              <a:rPr lang="en-US" sz="2800" kern="100" dirty="0">
                <a:latin typeface="Segoe UI Semibold" panose="020B0702040204020203" pitchFamily="34" charset="0"/>
                <a:ea typeface="Calibri" panose="020F0502020204030204" pitchFamily="34" charset="0"/>
                <a:cs typeface="Arial" panose="020B0604020202020204" pitchFamily="34" charset="0"/>
              </a:rPr>
              <a:t>Department of Information Technology</a:t>
            </a:r>
          </a:p>
        </p:txBody>
      </p:sp>
    </p:spTree>
    <p:extLst>
      <p:ext uri="{BB962C8B-B14F-4D97-AF65-F5344CB8AC3E}">
        <p14:creationId xmlns:p14="http://schemas.microsoft.com/office/powerpoint/2010/main" val="34611467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793790" y="2184083"/>
            <a:ext cx="13042821" cy="1417558"/>
          </a:xfrm>
          <a:prstGeom prst="rect">
            <a:avLst/>
          </a:prstGeom>
          <a:noFill/>
          <a:ln/>
        </p:spPr>
        <p:txBody>
          <a:bodyPr wrap="square" lIns="0" tIns="0" rIns="0" bIns="0" rtlCol="0" anchor="t"/>
          <a:lstStyle/>
          <a:p>
            <a:pPr marL="0" indent="0" algn="l">
              <a:lnSpc>
                <a:spcPts val="5550"/>
              </a:lnSpc>
              <a:buNone/>
            </a:pPr>
            <a:r>
              <a:rPr lang="en-US" sz="4450" dirty="0">
                <a:solidFill>
                  <a:srgbClr val="403CCF"/>
                </a:solidFill>
                <a:latin typeface="Libre Baskerville" pitchFamily="34" charset="0"/>
                <a:ea typeface="Libre Baskerville" pitchFamily="34" charset="-122"/>
                <a:cs typeface="Libre Baskerville" pitchFamily="34" charset="-120"/>
              </a:rPr>
              <a:t>Digital Rental Platform for Property Owners and Renters in Mekelle</a:t>
            </a:r>
            <a:endParaRPr lang="en-US" sz="4450" dirty="0"/>
          </a:p>
        </p:txBody>
      </p:sp>
      <p:sp>
        <p:nvSpPr>
          <p:cNvPr id="3" name="Text 1"/>
          <p:cNvSpPr/>
          <p:nvPr/>
        </p:nvSpPr>
        <p:spPr>
          <a:xfrm>
            <a:off x="793790" y="3941802"/>
            <a:ext cx="13042821" cy="1451610"/>
          </a:xfrm>
          <a:prstGeom prst="rect">
            <a:avLst/>
          </a:prstGeom>
          <a:noFill/>
          <a:ln/>
        </p:spPr>
        <p:txBody>
          <a:bodyPr wrap="square" lIns="0" tIns="0" rIns="0" bIns="0" rtlCol="0" anchor="t"/>
          <a:lstStyle/>
          <a:p>
            <a:pPr>
              <a:lnSpc>
                <a:spcPts val="2850"/>
              </a:lnSpc>
            </a:pPr>
            <a:r>
              <a:rPr lang="en-US" sz="1750" dirty="0">
                <a:latin typeface="Open Sans" pitchFamily="34" charset="0"/>
                <a:ea typeface="Open Sans" pitchFamily="34" charset="-122"/>
                <a:cs typeface="Open Sans" pitchFamily="34" charset="-120"/>
              </a:rPr>
              <a:t>This presentation proposes a web-based digital rental platform designed to improve the rental market in Mekelle, Ethiopia. The platform aims to connect property owners and renters efficiently by addressing current challenges such as inefficiency, lack of transparency, and trust issues. Leveraging increasing internet and smartphone accessibility, the solution will offer </a:t>
            </a:r>
            <a:r>
              <a:rPr lang="en-US" sz="1600" dirty="0">
                <a:latin typeface="Open Sans" panose="020B0604020202020204" charset="0"/>
                <a:ea typeface="Open Sans" panose="020B0604020202020204" charset="0"/>
                <a:cs typeface="Open Sans" panose="020B0604020202020204" charset="0"/>
              </a:rPr>
              <a:t>Centralized Property Listings, Advanced Search and Filter Features, Direct Owner Listing, User Registration and Role Access</a:t>
            </a:r>
            <a:r>
              <a:rPr lang="en-US" sz="1750" dirty="0">
                <a:solidFill>
                  <a:srgbClr val="49495A"/>
                </a:solidFill>
                <a:latin typeface="Open Sans" panose="020B0604020202020204" charset="0"/>
                <a:ea typeface="Open Sans" panose="020B0604020202020204" charset="0"/>
                <a:cs typeface="Open Sans" panose="020B0604020202020204" charset="0"/>
              </a:rPr>
              <a:t>.</a:t>
            </a:r>
            <a:endParaRPr lang="en-US" sz="1750" dirty="0">
              <a:latin typeface="Open Sans" panose="020B0604020202020204" charset="0"/>
              <a:ea typeface="Open Sans" panose="020B0604020202020204" charset="0"/>
              <a:cs typeface="Open Sans" panose="020B0604020202020204" charset="0"/>
            </a:endParaRPr>
          </a:p>
        </p:txBody>
      </p:sp>
      <p:sp>
        <p:nvSpPr>
          <p:cNvPr id="4" name="Shape 2"/>
          <p:cNvSpPr/>
          <p:nvPr/>
        </p:nvSpPr>
        <p:spPr>
          <a:xfrm>
            <a:off x="793790" y="5665470"/>
            <a:ext cx="362903" cy="362903"/>
          </a:xfrm>
          <a:prstGeom prst="roundRect">
            <a:avLst>
              <a:gd name="adj" fmla="val 25194296"/>
            </a:avLst>
          </a:prstGeom>
          <a:noFill/>
          <a:ln w="7620">
            <a:solidFill>
              <a:srgbClr val="FFFFFF"/>
            </a:solidFill>
            <a:prstDash val="solid"/>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2392442"/>
            <a:ext cx="10977801" cy="708779"/>
          </a:xfrm>
          <a:prstGeom prst="rect">
            <a:avLst/>
          </a:prstGeom>
          <a:noFill/>
          <a:ln/>
        </p:spPr>
        <p:txBody>
          <a:bodyPr wrap="none" lIns="0" tIns="0" rIns="0" bIns="0" rtlCol="0" anchor="t"/>
          <a:lstStyle/>
          <a:p>
            <a:pPr marL="0" indent="0" algn="l">
              <a:lnSpc>
                <a:spcPts val="5550"/>
              </a:lnSpc>
              <a:buNone/>
            </a:pPr>
            <a:r>
              <a:rPr lang="en-US" sz="4450" dirty="0">
                <a:solidFill>
                  <a:srgbClr val="403CCF"/>
                </a:solidFill>
                <a:latin typeface="Libre Baskerville" pitchFamily="34" charset="0"/>
                <a:ea typeface="Libre Baskerville" pitchFamily="34" charset="-122"/>
                <a:cs typeface="Libre Baskerville" pitchFamily="34" charset="-120"/>
              </a:rPr>
              <a:t>Challenges in Mekelle's Rental Market</a:t>
            </a:r>
            <a:endParaRPr lang="en-US" sz="4450" dirty="0"/>
          </a:p>
        </p:txBody>
      </p:sp>
      <p:sp>
        <p:nvSpPr>
          <p:cNvPr id="3" name="Shape 1"/>
          <p:cNvSpPr/>
          <p:nvPr/>
        </p:nvSpPr>
        <p:spPr>
          <a:xfrm>
            <a:off x="793790" y="3441382"/>
            <a:ext cx="4196358" cy="2395657"/>
          </a:xfrm>
          <a:prstGeom prst="roundRect">
            <a:avLst>
              <a:gd name="adj" fmla="val 1420"/>
            </a:avLst>
          </a:prstGeom>
          <a:solidFill>
            <a:srgbClr val="EAE8F3"/>
          </a:solidFill>
          <a:ln/>
        </p:spPr>
      </p:sp>
      <p:sp>
        <p:nvSpPr>
          <p:cNvPr id="4" name="Text 2"/>
          <p:cNvSpPr/>
          <p:nvPr/>
        </p:nvSpPr>
        <p:spPr>
          <a:xfrm>
            <a:off x="1020604" y="3668197"/>
            <a:ext cx="3664268" cy="354330"/>
          </a:xfrm>
          <a:prstGeom prst="rect">
            <a:avLst/>
          </a:prstGeom>
          <a:noFill/>
          <a:ln/>
        </p:spPr>
        <p:txBody>
          <a:bodyPr wrap="none" lIns="0" tIns="0" rIns="0" bIns="0" rtlCol="0" anchor="t"/>
          <a:lstStyle/>
          <a:p>
            <a:pPr marL="0" indent="0" algn="l">
              <a:lnSpc>
                <a:spcPts val="2750"/>
              </a:lnSpc>
              <a:buNone/>
            </a:pPr>
            <a:r>
              <a:rPr lang="en-US" sz="2200" dirty="0">
                <a:solidFill>
                  <a:srgbClr val="49495A"/>
                </a:solidFill>
                <a:latin typeface="Libre Baskerville" pitchFamily="34" charset="0"/>
                <a:ea typeface="Libre Baskerville" pitchFamily="34" charset="-122"/>
                <a:cs typeface="Libre Baskerville" pitchFamily="34" charset="-120"/>
              </a:rPr>
              <a:t>Time-Consuming Search</a:t>
            </a:r>
            <a:endParaRPr lang="en-US" sz="2200" dirty="0"/>
          </a:p>
        </p:txBody>
      </p:sp>
      <p:sp>
        <p:nvSpPr>
          <p:cNvPr id="5" name="Text 3"/>
          <p:cNvSpPr/>
          <p:nvPr/>
        </p:nvSpPr>
        <p:spPr>
          <a:xfrm>
            <a:off x="1020604" y="4158615"/>
            <a:ext cx="3742730" cy="1451610"/>
          </a:xfrm>
          <a:prstGeom prst="rect">
            <a:avLst/>
          </a:prstGeom>
          <a:noFill/>
          <a:ln/>
        </p:spPr>
        <p:txBody>
          <a:bodyPr wrap="square" lIns="0" tIns="0" rIns="0" bIns="0" rtlCol="0" anchor="t"/>
          <a:lstStyle/>
          <a:p>
            <a:pPr marL="0" indent="0" algn="l">
              <a:lnSpc>
                <a:spcPts val="2850"/>
              </a:lnSpc>
              <a:buNone/>
            </a:pPr>
            <a:r>
              <a:rPr lang="en-US" sz="1750" dirty="0">
                <a:solidFill>
                  <a:srgbClr val="49495A"/>
                </a:solidFill>
                <a:latin typeface="Open Sans" pitchFamily="34" charset="0"/>
                <a:ea typeface="Open Sans" pitchFamily="34" charset="-122"/>
                <a:cs typeface="Open Sans" pitchFamily="34" charset="-120"/>
              </a:rPr>
              <a:t>Renters must visit multiple neighborhoods or contact many brokers, consuming significant time and energy.</a:t>
            </a:r>
            <a:endParaRPr lang="en-US" sz="1750" dirty="0"/>
          </a:p>
        </p:txBody>
      </p:sp>
      <p:sp>
        <p:nvSpPr>
          <p:cNvPr id="6" name="Shape 4"/>
          <p:cNvSpPr/>
          <p:nvPr/>
        </p:nvSpPr>
        <p:spPr>
          <a:xfrm>
            <a:off x="5216962" y="3441382"/>
            <a:ext cx="4196358" cy="2395657"/>
          </a:xfrm>
          <a:prstGeom prst="roundRect">
            <a:avLst>
              <a:gd name="adj" fmla="val 1420"/>
            </a:avLst>
          </a:prstGeom>
          <a:solidFill>
            <a:srgbClr val="EAE8F3"/>
          </a:solidFill>
          <a:ln/>
        </p:spPr>
      </p:sp>
      <p:sp>
        <p:nvSpPr>
          <p:cNvPr id="7" name="Text 5"/>
          <p:cNvSpPr/>
          <p:nvPr/>
        </p:nvSpPr>
        <p:spPr>
          <a:xfrm>
            <a:off x="5443776" y="3668197"/>
            <a:ext cx="3136702" cy="354330"/>
          </a:xfrm>
          <a:prstGeom prst="rect">
            <a:avLst/>
          </a:prstGeom>
          <a:noFill/>
          <a:ln/>
        </p:spPr>
        <p:txBody>
          <a:bodyPr wrap="none" lIns="0" tIns="0" rIns="0" bIns="0" rtlCol="0" anchor="t"/>
          <a:lstStyle/>
          <a:p>
            <a:pPr marL="0" indent="0" algn="l">
              <a:lnSpc>
                <a:spcPts val="2750"/>
              </a:lnSpc>
              <a:buNone/>
            </a:pPr>
            <a:r>
              <a:rPr lang="en-US" sz="2200" dirty="0">
                <a:solidFill>
                  <a:srgbClr val="49495A"/>
                </a:solidFill>
                <a:latin typeface="Libre Baskerville" pitchFamily="34" charset="0"/>
                <a:ea typeface="Libre Baskerville" pitchFamily="34" charset="-122"/>
                <a:cs typeface="Libre Baskerville" pitchFamily="34" charset="-120"/>
              </a:rPr>
              <a:t>Lack of Transparency</a:t>
            </a:r>
            <a:endParaRPr lang="en-US" sz="2200" dirty="0"/>
          </a:p>
        </p:txBody>
      </p:sp>
      <p:sp>
        <p:nvSpPr>
          <p:cNvPr id="8" name="Text 6"/>
          <p:cNvSpPr/>
          <p:nvPr/>
        </p:nvSpPr>
        <p:spPr>
          <a:xfrm>
            <a:off x="5443776" y="4158615"/>
            <a:ext cx="3742730" cy="1088708"/>
          </a:xfrm>
          <a:prstGeom prst="rect">
            <a:avLst/>
          </a:prstGeom>
          <a:noFill/>
          <a:ln/>
        </p:spPr>
        <p:txBody>
          <a:bodyPr wrap="square" lIns="0" tIns="0" rIns="0" bIns="0" rtlCol="0" anchor="t"/>
          <a:lstStyle/>
          <a:p>
            <a:pPr marL="0" indent="0" algn="l">
              <a:lnSpc>
                <a:spcPts val="2850"/>
              </a:lnSpc>
              <a:buNone/>
            </a:pPr>
            <a:r>
              <a:rPr lang="en-US" sz="1750" dirty="0">
                <a:solidFill>
                  <a:srgbClr val="49495A"/>
                </a:solidFill>
                <a:latin typeface="Open Sans" pitchFamily="34" charset="0"/>
                <a:ea typeface="Open Sans" pitchFamily="34" charset="-122"/>
                <a:cs typeface="Open Sans" pitchFamily="34" charset="-120"/>
              </a:rPr>
              <a:t>Property conditions often differ from broker descriptions, causing mistrust and disappointment.</a:t>
            </a:r>
            <a:endParaRPr lang="en-US" sz="1750" dirty="0"/>
          </a:p>
        </p:txBody>
      </p:sp>
      <p:sp>
        <p:nvSpPr>
          <p:cNvPr id="9" name="Shape 7"/>
          <p:cNvSpPr/>
          <p:nvPr/>
        </p:nvSpPr>
        <p:spPr>
          <a:xfrm>
            <a:off x="9640133" y="3441382"/>
            <a:ext cx="4196358" cy="2395657"/>
          </a:xfrm>
          <a:prstGeom prst="roundRect">
            <a:avLst>
              <a:gd name="adj" fmla="val 1420"/>
            </a:avLst>
          </a:prstGeom>
          <a:solidFill>
            <a:srgbClr val="EAE8F3"/>
          </a:solidFill>
          <a:ln/>
        </p:spPr>
      </p:sp>
      <p:sp>
        <p:nvSpPr>
          <p:cNvPr id="10" name="Text 8"/>
          <p:cNvSpPr/>
          <p:nvPr/>
        </p:nvSpPr>
        <p:spPr>
          <a:xfrm>
            <a:off x="9866948" y="3668197"/>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49495A"/>
                </a:solidFill>
                <a:latin typeface="Libre Baskerville" pitchFamily="34" charset="0"/>
                <a:ea typeface="Libre Baskerville" pitchFamily="34" charset="-122"/>
                <a:cs typeface="Libre Baskerville" pitchFamily="34" charset="-120"/>
              </a:rPr>
              <a:t>High Costs</a:t>
            </a:r>
            <a:endParaRPr lang="en-US" sz="2200" dirty="0"/>
          </a:p>
        </p:txBody>
      </p:sp>
      <p:sp>
        <p:nvSpPr>
          <p:cNvPr id="11" name="Text 9"/>
          <p:cNvSpPr/>
          <p:nvPr/>
        </p:nvSpPr>
        <p:spPr>
          <a:xfrm>
            <a:off x="9866948" y="4158615"/>
            <a:ext cx="3742730" cy="1088708"/>
          </a:xfrm>
          <a:prstGeom prst="rect">
            <a:avLst/>
          </a:prstGeom>
          <a:noFill/>
          <a:ln/>
        </p:spPr>
        <p:txBody>
          <a:bodyPr wrap="square" lIns="0" tIns="0" rIns="0" bIns="0" rtlCol="0" anchor="t"/>
          <a:lstStyle/>
          <a:p>
            <a:pPr marL="0" indent="0" algn="l">
              <a:lnSpc>
                <a:spcPts val="2850"/>
              </a:lnSpc>
              <a:buNone/>
            </a:pPr>
            <a:r>
              <a:rPr lang="en-US" sz="1750" dirty="0">
                <a:solidFill>
                  <a:srgbClr val="49495A"/>
                </a:solidFill>
                <a:latin typeface="Open Sans" pitchFamily="34" charset="0"/>
                <a:ea typeface="Open Sans" pitchFamily="34" charset="-122"/>
                <a:cs typeface="Open Sans" pitchFamily="34" charset="-120"/>
              </a:rPr>
              <a:t>Brokers charge commissions up to a month's rent, adding financial burdens to renters.</a:t>
            </a:r>
            <a:endParaRPr lang="en-US" sz="1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2403158"/>
            <a:ext cx="12255818" cy="708779"/>
          </a:xfrm>
          <a:prstGeom prst="rect">
            <a:avLst/>
          </a:prstGeom>
          <a:noFill/>
          <a:ln/>
        </p:spPr>
        <p:txBody>
          <a:bodyPr wrap="none" lIns="0" tIns="0" rIns="0" bIns="0" rtlCol="0" anchor="t"/>
          <a:lstStyle/>
          <a:p>
            <a:pPr marL="0" indent="0" algn="l">
              <a:lnSpc>
                <a:spcPts val="5550"/>
              </a:lnSpc>
              <a:buNone/>
            </a:pPr>
            <a:r>
              <a:rPr lang="en-US" sz="4450" dirty="0">
                <a:solidFill>
                  <a:srgbClr val="403CCF"/>
                </a:solidFill>
                <a:latin typeface="Libre Baskerville" pitchFamily="34" charset="0"/>
                <a:ea typeface="Libre Baskerville" pitchFamily="34" charset="-122"/>
                <a:cs typeface="Libre Baskerville" pitchFamily="34" charset="-120"/>
              </a:rPr>
              <a:t>Proposed Digital Rental Platform Solution</a:t>
            </a:r>
            <a:endParaRPr lang="en-US" sz="4450" dirty="0"/>
          </a:p>
        </p:txBody>
      </p:sp>
      <p:sp>
        <p:nvSpPr>
          <p:cNvPr id="3" name="Shape 1"/>
          <p:cNvSpPr/>
          <p:nvPr/>
        </p:nvSpPr>
        <p:spPr>
          <a:xfrm>
            <a:off x="793790" y="3452098"/>
            <a:ext cx="510302" cy="510302"/>
          </a:xfrm>
          <a:prstGeom prst="roundRect">
            <a:avLst>
              <a:gd name="adj" fmla="val 6667"/>
            </a:avLst>
          </a:prstGeom>
          <a:solidFill>
            <a:srgbClr val="EAE8F3"/>
          </a:solidFill>
          <a:ln/>
        </p:spPr>
      </p:sp>
      <p:sp>
        <p:nvSpPr>
          <p:cNvPr id="4" name="Text 2"/>
          <p:cNvSpPr/>
          <p:nvPr/>
        </p:nvSpPr>
        <p:spPr>
          <a:xfrm>
            <a:off x="1530906" y="3529965"/>
            <a:ext cx="3421499" cy="708660"/>
          </a:xfrm>
          <a:prstGeom prst="rect">
            <a:avLst/>
          </a:prstGeom>
          <a:noFill/>
          <a:ln/>
        </p:spPr>
        <p:txBody>
          <a:bodyPr wrap="square" lIns="0" tIns="0" rIns="0" bIns="0" rtlCol="0" anchor="t"/>
          <a:lstStyle/>
          <a:p>
            <a:pPr marL="0" indent="0" algn="l">
              <a:lnSpc>
                <a:spcPts val="2750"/>
              </a:lnSpc>
              <a:buNone/>
            </a:pPr>
            <a:r>
              <a:rPr lang="en-US" sz="2200" dirty="0">
                <a:solidFill>
                  <a:srgbClr val="49495A"/>
                </a:solidFill>
                <a:latin typeface="Libre Baskerville" pitchFamily="34" charset="0"/>
                <a:ea typeface="Libre Baskerville" pitchFamily="34" charset="-122"/>
                <a:cs typeface="Libre Baskerville" pitchFamily="34" charset="-120"/>
              </a:rPr>
              <a:t>Centralized Listings &amp; Filters</a:t>
            </a:r>
            <a:endParaRPr lang="en-US" sz="2200" dirty="0"/>
          </a:p>
        </p:txBody>
      </p:sp>
      <p:sp>
        <p:nvSpPr>
          <p:cNvPr id="5" name="Text 3"/>
          <p:cNvSpPr/>
          <p:nvPr/>
        </p:nvSpPr>
        <p:spPr>
          <a:xfrm>
            <a:off x="1530906" y="4374713"/>
            <a:ext cx="3421499" cy="1451610"/>
          </a:xfrm>
          <a:prstGeom prst="rect">
            <a:avLst/>
          </a:prstGeom>
          <a:noFill/>
          <a:ln/>
        </p:spPr>
        <p:txBody>
          <a:bodyPr wrap="square" lIns="0" tIns="0" rIns="0" bIns="0" rtlCol="0" anchor="t"/>
          <a:lstStyle/>
          <a:p>
            <a:pPr marL="0" indent="0" algn="l">
              <a:lnSpc>
                <a:spcPts val="2850"/>
              </a:lnSpc>
              <a:buNone/>
            </a:pPr>
            <a:r>
              <a:rPr lang="en-US" sz="1750" dirty="0">
                <a:solidFill>
                  <a:srgbClr val="49495A"/>
                </a:solidFill>
                <a:latin typeface="Open Sans" pitchFamily="34" charset="0"/>
                <a:ea typeface="Open Sans" pitchFamily="34" charset="-122"/>
                <a:cs typeface="Open Sans" pitchFamily="34" charset="-120"/>
              </a:rPr>
              <a:t>Verified properties accessible from one platform with advanced search and filtering options.</a:t>
            </a:r>
            <a:endParaRPr lang="en-US" sz="1750" dirty="0"/>
          </a:p>
        </p:txBody>
      </p:sp>
      <p:sp>
        <p:nvSpPr>
          <p:cNvPr id="6" name="Shape 4"/>
          <p:cNvSpPr/>
          <p:nvPr/>
        </p:nvSpPr>
        <p:spPr>
          <a:xfrm>
            <a:off x="5235893" y="3452098"/>
            <a:ext cx="510302" cy="510302"/>
          </a:xfrm>
          <a:prstGeom prst="roundRect">
            <a:avLst>
              <a:gd name="adj" fmla="val 6667"/>
            </a:avLst>
          </a:prstGeom>
          <a:solidFill>
            <a:srgbClr val="EAE8F3"/>
          </a:solidFill>
          <a:ln/>
        </p:spPr>
      </p:sp>
      <p:sp>
        <p:nvSpPr>
          <p:cNvPr id="7" name="Text 5"/>
          <p:cNvSpPr/>
          <p:nvPr/>
        </p:nvSpPr>
        <p:spPr>
          <a:xfrm>
            <a:off x="5973008" y="3529965"/>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49495A"/>
                </a:solidFill>
                <a:latin typeface="Libre Baskerville" pitchFamily="34" charset="0"/>
                <a:ea typeface="Libre Baskerville" pitchFamily="34" charset="-122"/>
                <a:cs typeface="Libre Baskerville" pitchFamily="34" charset="-120"/>
              </a:rPr>
              <a:t>Broker-Free Access</a:t>
            </a:r>
            <a:endParaRPr lang="en-US" sz="2200" dirty="0"/>
          </a:p>
        </p:txBody>
      </p:sp>
      <p:sp>
        <p:nvSpPr>
          <p:cNvPr id="8" name="Text 6"/>
          <p:cNvSpPr/>
          <p:nvPr/>
        </p:nvSpPr>
        <p:spPr>
          <a:xfrm>
            <a:off x="5973008" y="4020383"/>
            <a:ext cx="3421499" cy="1088708"/>
          </a:xfrm>
          <a:prstGeom prst="rect">
            <a:avLst/>
          </a:prstGeom>
          <a:noFill/>
          <a:ln/>
        </p:spPr>
        <p:txBody>
          <a:bodyPr wrap="square" lIns="0" tIns="0" rIns="0" bIns="0" rtlCol="0" anchor="t"/>
          <a:lstStyle/>
          <a:p>
            <a:pPr marL="0" indent="0" algn="l">
              <a:lnSpc>
                <a:spcPts val="2850"/>
              </a:lnSpc>
              <a:buNone/>
            </a:pPr>
            <a:r>
              <a:rPr lang="en-US" sz="1750" dirty="0">
                <a:solidFill>
                  <a:srgbClr val="49495A"/>
                </a:solidFill>
                <a:latin typeface="Open Sans" pitchFamily="34" charset="0"/>
                <a:ea typeface="Open Sans" pitchFamily="34" charset="-122"/>
                <a:cs typeface="Open Sans" pitchFamily="34" charset="-120"/>
              </a:rPr>
              <a:t>Direct interaction between renters and owners reduces commission costs and delays.</a:t>
            </a:r>
            <a:endParaRPr lang="en-US" sz="1750" dirty="0"/>
          </a:p>
        </p:txBody>
      </p:sp>
      <p:sp>
        <p:nvSpPr>
          <p:cNvPr id="9" name="Shape 7"/>
          <p:cNvSpPr/>
          <p:nvPr/>
        </p:nvSpPr>
        <p:spPr>
          <a:xfrm>
            <a:off x="9677995" y="3452098"/>
            <a:ext cx="510302" cy="510302"/>
          </a:xfrm>
          <a:prstGeom prst="roundRect">
            <a:avLst>
              <a:gd name="adj" fmla="val 6667"/>
            </a:avLst>
          </a:prstGeom>
          <a:solidFill>
            <a:srgbClr val="EAE8F3"/>
          </a:solidFill>
          <a:ln/>
        </p:spPr>
      </p:sp>
      <p:sp>
        <p:nvSpPr>
          <p:cNvPr id="10" name="Text 8"/>
          <p:cNvSpPr/>
          <p:nvPr/>
        </p:nvSpPr>
        <p:spPr>
          <a:xfrm>
            <a:off x="10395518" y="3478479"/>
            <a:ext cx="3096101" cy="354330"/>
          </a:xfrm>
          <a:prstGeom prst="rect">
            <a:avLst/>
          </a:prstGeom>
          <a:noFill/>
          <a:ln/>
        </p:spPr>
        <p:txBody>
          <a:bodyPr wrap="none" lIns="0" tIns="0" rIns="0" bIns="0" rtlCol="0" anchor="t"/>
          <a:lstStyle/>
          <a:p>
            <a:pPr>
              <a:lnSpc>
                <a:spcPts val="2750"/>
              </a:lnSpc>
            </a:pPr>
            <a:r>
              <a:rPr lang="en-US" sz="2400" dirty="0"/>
              <a:t>User-Friendly Interface and </a:t>
            </a:r>
          </a:p>
          <a:p>
            <a:pPr>
              <a:lnSpc>
                <a:spcPts val="2750"/>
              </a:lnSpc>
            </a:pPr>
            <a:r>
              <a:rPr lang="en-US" sz="2400" dirty="0"/>
              <a:t>Experience</a:t>
            </a:r>
            <a:endParaRPr lang="en-US" sz="2200" dirty="0"/>
          </a:p>
        </p:txBody>
      </p:sp>
      <p:sp>
        <p:nvSpPr>
          <p:cNvPr id="11" name="Text 9"/>
          <p:cNvSpPr/>
          <p:nvPr/>
        </p:nvSpPr>
        <p:spPr>
          <a:xfrm>
            <a:off x="10395518" y="4238625"/>
            <a:ext cx="3421499" cy="1088708"/>
          </a:xfrm>
          <a:prstGeom prst="rect">
            <a:avLst/>
          </a:prstGeom>
          <a:noFill/>
          <a:ln/>
        </p:spPr>
        <p:txBody>
          <a:bodyPr wrap="square" lIns="0" tIns="0" rIns="0" bIns="0" rtlCol="0" anchor="t"/>
          <a:lstStyle/>
          <a:p>
            <a:pPr>
              <a:lnSpc>
                <a:spcPts val="2850"/>
              </a:lnSpc>
            </a:pPr>
            <a:r>
              <a:rPr lang="en-US" sz="1750" dirty="0">
                <a:latin typeface="Open Sans" panose="020B0604020202020204" charset="0"/>
                <a:ea typeface="Open Sans" panose="020B0604020202020204" charset="0"/>
                <a:cs typeface="Open Sans" panose="020B0604020202020204" charset="0"/>
              </a:rPr>
              <a:t>The platform offers a single, organized space where renters can access verified property listings without relying on brokers or scattered sources</a:t>
            </a:r>
            <a:r>
              <a:rPr lang="en-US" sz="1750" dirty="0"/>
              <a: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1939052"/>
            <a:ext cx="5670590" cy="708779"/>
          </a:xfrm>
          <a:prstGeom prst="rect">
            <a:avLst/>
          </a:prstGeom>
          <a:noFill/>
          <a:ln/>
        </p:spPr>
        <p:txBody>
          <a:bodyPr wrap="none" lIns="0" tIns="0" rIns="0" bIns="0" rtlCol="0" anchor="t"/>
          <a:lstStyle/>
          <a:p>
            <a:pPr marL="0" indent="0" algn="l">
              <a:lnSpc>
                <a:spcPts val="5550"/>
              </a:lnSpc>
              <a:buNone/>
            </a:pPr>
            <a:r>
              <a:rPr lang="en-US" sz="4450" dirty="0">
                <a:solidFill>
                  <a:srgbClr val="403CCF"/>
                </a:solidFill>
                <a:latin typeface="Libre Baskerville" pitchFamily="34" charset="0"/>
                <a:ea typeface="Libre Baskerville" pitchFamily="34" charset="-122"/>
                <a:cs typeface="Libre Baskerville" pitchFamily="34" charset="-120"/>
              </a:rPr>
              <a:t>Project Objectives</a:t>
            </a:r>
            <a:endParaRPr lang="en-US" sz="4450" dirty="0"/>
          </a:p>
        </p:txBody>
      </p:sp>
      <p:sp>
        <p:nvSpPr>
          <p:cNvPr id="3" name="Text 1"/>
          <p:cNvSpPr/>
          <p:nvPr/>
        </p:nvSpPr>
        <p:spPr>
          <a:xfrm>
            <a:off x="793790" y="3214807"/>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403CCF"/>
                </a:solidFill>
                <a:latin typeface="Libre Baskerville" pitchFamily="34" charset="0"/>
                <a:ea typeface="Libre Baskerville" pitchFamily="34" charset="-122"/>
                <a:cs typeface="Libre Baskerville" pitchFamily="34" charset="-120"/>
              </a:rPr>
              <a:t>General Objective</a:t>
            </a:r>
            <a:endParaRPr lang="en-US" sz="2200" dirty="0"/>
          </a:p>
        </p:txBody>
      </p:sp>
      <p:sp>
        <p:nvSpPr>
          <p:cNvPr id="4" name="Text 2"/>
          <p:cNvSpPr/>
          <p:nvPr/>
        </p:nvSpPr>
        <p:spPr>
          <a:xfrm>
            <a:off x="793790" y="3795951"/>
            <a:ext cx="6244709" cy="725805"/>
          </a:xfrm>
          <a:prstGeom prst="rect">
            <a:avLst/>
          </a:prstGeom>
          <a:noFill/>
          <a:ln/>
        </p:spPr>
        <p:txBody>
          <a:bodyPr wrap="square" lIns="0" tIns="0" rIns="0" bIns="0" rtlCol="0" anchor="t"/>
          <a:lstStyle/>
          <a:p>
            <a:pPr marL="0" indent="0" algn="l">
              <a:lnSpc>
                <a:spcPts val="2850"/>
              </a:lnSpc>
              <a:buNone/>
            </a:pPr>
            <a:r>
              <a:rPr lang="en-US" sz="1750" dirty="0">
                <a:solidFill>
                  <a:srgbClr val="49495A"/>
                </a:solidFill>
                <a:latin typeface="Open Sans" pitchFamily="34" charset="0"/>
                <a:ea typeface="Open Sans" pitchFamily="34" charset="-122"/>
                <a:cs typeface="Open Sans" pitchFamily="34" charset="-120"/>
              </a:rPr>
              <a:t>Design and develop a user-friendly web platform to streamline Mekelle's rental process.</a:t>
            </a:r>
            <a:endParaRPr lang="en-US" sz="1750" dirty="0"/>
          </a:p>
        </p:txBody>
      </p:sp>
      <p:sp>
        <p:nvSpPr>
          <p:cNvPr id="5" name="Text 3"/>
          <p:cNvSpPr/>
          <p:nvPr/>
        </p:nvSpPr>
        <p:spPr>
          <a:xfrm>
            <a:off x="7599521" y="3214807"/>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403CCF"/>
                </a:solidFill>
                <a:latin typeface="Libre Baskerville" pitchFamily="34" charset="0"/>
                <a:ea typeface="Libre Baskerville" pitchFamily="34" charset="-122"/>
                <a:cs typeface="Libre Baskerville" pitchFamily="34" charset="-120"/>
              </a:rPr>
              <a:t>Specific Objectives</a:t>
            </a:r>
            <a:endParaRPr lang="en-US" sz="2200" dirty="0"/>
          </a:p>
        </p:txBody>
      </p:sp>
      <p:sp>
        <p:nvSpPr>
          <p:cNvPr id="6" name="Text 4"/>
          <p:cNvSpPr/>
          <p:nvPr/>
        </p:nvSpPr>
        <p:spPr>
          <a:xfrm>
            <a:off x="7599521" y="3795951"/>
            <a:ext cx="6244709" cy="72580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49495A"/>
                </a:solidFill>
                <a:latin typeface="Open Sans" pitchFamily="34" charset="0"/>
                <a:ea typeface="Open Sans" pitchFamily="34" charset="-122"/>
                <a:cs typeface="Open Sans" pitchFamily="34" charset="-120"/>
              </a:rPr>
              <a:t>Enable renters to search, filter, and compare verified properties easily.</a:t>
            </a:r>
            <a:endParaRPr lang="en-US" sz="1750" dirty="0"/>
          </a:p>
        </p:txBody>
      </p:sp>
      <p:sp>
        <p:nvSpPr>
          <p:cNvPr id="7" name="Text 5"/>
          <p:cNvSpPr/>
          <p:nvPr/>
        </p:nvSpPr>
        <p:spPr>
          <a:xfrm>
            <a:off x="7599521" y="4601051"/>
            <a:ext cx="6244709" cy="72580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49495A"/>
                </a:solidFill>
                <a:latin typeface="Open Sans" pitchFamily="34" charset="0"/>
                <a:ea typeface="Open Sans" pitchFamily="34" charset="-122"/>
                <a:cs typeface="Open Sans" pitchFamily="34" charset="-120"/>
              </a:rPr>
              <a:t>Allow property owners to list and manage properties online.</a:t>
            </a:r>
            <a:endParaRPr lang="en-US" sz="1750" dirty="0"/>
          </a:p>
        </p:txBody>
      </p:sp>
      <p:sp>
        <p:nvSpPr>
          <p:cNvPr id="8" name="Text 6"/>
          <p:cNvSpPr/>
          <p:nvPr/>
        </p:nvSpPr>
        <p:spPr>
          <a:xfrm>
            <a:off x="7599521" y="5406152"/>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49495A"/>
                </a:solidFill>
                <a:latin typeface="Open Sans" pitchFamily="34" charset="0"/>
                <a:ea typeface="Open Sans" pitchFamily="34" charset="-122"/>
                <a:cs typeface="Open Sans" pitchFamily="34" charset="-120"/>
              </a:rPr>
              <a:t>Eliminate brokers by facilitating direct communication.</a:t>
            </a:r>
            <a:endParaRPr lang="en-US" sz="1750" dirty="0"/>
          </a:p>
        </p:txBody>
      </p:sp>
      <p:sp>
        <p:nvSpPr>
          <p:cNvPr id="9" name="Text 7"/>
          <p:cNvSpPr/>
          <p:nvPr/>
        </p:nvSpPr>
        <p:spPr>
          <a:xfrm>
            <a:off x="7599521" y="5848350"/>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49495A"/>
                </a:solidFill>
                <a:latin typeface="Open Sans" pitchFamily="34" charset="0"/>
                <a:ea typeface="Open Sans" pitchFamily="34" charset="-122"/>
                <a:cs typeface="Open Sans" pitchFamily="34" charset="-120"/>
              </a:rPr>
              <a:t>Reduce time and improve rental efficiency.</a:t>
            </a:r>
            <a:endParaRPr lang="en-US" sz="1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2580323"/>
            <a:ext cx="11483578" cy="708779"/>
          </a:xfrm>
          <a:prstGeom prst="rect">
            <a:avLst/>
          </a:prstGeom>
          <a:noFill/>
          <a:ln/>
        </p:spPr>
        <p:txBody>
          <a:bodyPr wrap="none" lIns="0" tIns="0" rIns="0" bIns="0" rtlCol="0" anchor="t"/>
          <a:lstStyle/>
          <a:p>
            <a:pPr marL="0" indent="0" algn="l">
              <a:lnSpc>
                <a:spcPts val="5550"/>
              </a:lnSpc>
              <a:buNone/>
            </a:pPr>
            <a:r>
              <a:rPr lang="en-US" sz="4450" dirty="0">
                <a:solidFill>
                  <a:srgbClr val="403CCF"/>
                </a:solidFill>
                <a:latin typeface="Libre Baskerville" pitchFamily="34" charset="0"/>
                <a:ea typeface="Libre Baskerville" pitchFamily="34" charset="-122"/>
                <a:cs typeface="Libre Baskerville" pitchFamily="34" charset="-120"/>
              </a:rPr>
              <a:t>Literature Review and Global Examples</a:t>
            </a:r>
            <a:endParaRPr lang="en-US" sz="4450" dirty="0"/>
          </a:p>
        </p:txBody>
      </p:sp>
      <p:sp>
        <p:nvSpPr>
          <p:cNvPr id="3" name="Shape 1"/>
          <p:cNvSpPr/>
          <p:nvPr/>
        </p:nvSpPr>
        <p:spPr>
          <a:xfrm>
            <a:off x="793790" y="3629263"/>
            <a:ext cx="510302" cy="510302"/>
          </a:xfrm>
          <a:prstGeom prst="roundRect">
            <a:avLst>
              <a:gd name="adj" fmla="val 6667"/>
            </a:avLst>
          </a:prstGeom>
          <a:solidFill>
            <a:srgbClr val="EAE8F3"/>
          </a:solidFill>
          <a:ln/>
        </p:spPr>
      </p:sp>
      <p:sp>
        <p:nvSpPr>
          <p:cNvPr id="4" name="Text 2"/>
          <p:cNvSpPr/>
          <p:nvPr/>
        </p:nvSpPr>
        <p:spPr>
          <a:xfrm>
            <a:off x="1530906" y="3707130"/>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49495A"/>
                </a:solidFill>
                <a:latin typeface="Libre Baskerville" pitchFamily="34" charset="0"/>
                <a:ea typeface="Libre Baskerville" pitchFamily="34" charset="-122"/>
                <a:cs typeface="Libre Baskerville" pitchFamily="34" charset="-120"/>
              </a:rPr>
              <a:t>Global Platforms</a:t>
            </a:r>
            <a:endParaRPr lang="en-US" sz="2200" dirty="0"/>
          </a:p>
        </p:txBody>
      </p:sp>
      <p:sp>
        <p:nvSpPr>
          <p:cNvPr id="5" name="Text 3"/>
          <p:cNvSpPr/>
          <p:nvPr/>
        </p:nvSpPr>
        <p:spPr>
          <a:xfrm>
            <a:off x="1530906" y="4197548"/>
            <a:ext cx="3421499" cy="1451610"/>
          </a:xfrm>
          <a:prstGeom prst="rect">
            <a:avLst/>
          </a:prstGeom>
          <a:noFill/>
          <a:ln/>
        </p:spPr>
        <p:txBody>
          <a:bodyPr wrap="square" lIns="0" tIns="0" rIns="0" bIns="0" rtlCol="0" anchor="t"/>
          <a:lstStyle/>
          <a:p>
            <a:pPr marL="0" indent="0" algn="l">
              <a:lnSpc>
                <a:spcPts val="2850"/>
              </a:lnSpc>
              <a:buNone/>
            </a:pPr>
            <a:r>
              <a:rPr lang="en-US" sz="1750" dirty="0">
                <a:solidFill>
                  <a:srgbClr val="49495A"/>
                </a:solidFill>
                <a:latin typeface="Open Sans" pitchFamily="34" charset="0"/>
                <a:ea typeface="Open Sans" pitchFamily="34" charset="-122"/>
                <a:cs typeface="Open Sans" pitchFamily="34" charset="-120"/>
              </a:rPr>
              <a:t>Airbnb, Zillow, and Property Finder centralize listings, enhance transparency, and enable direct communication.</a:t>
            </a:r>
            <a:endParaRPr lang="en-US" sz="1750" dirty="0"/>
          </a:p>
        </p:txBody>
      </p:sp>
      <p:sp>
        <p:nvSpPr>
          <p:cNvPr id="6" name="Shape 4"/>
          <p:cNvSpPr/>
          <p:nvPr/>
        </p:nvSpPr>
        <p:spPr>
          <a:xfrm>
            <a:off x="5746195" y="3582974"/>
            <a:ext cx="510302" cy="510302"/>
          </a:xfrm>
          <a:prstGeom prst="roundRect">
            <a:avLst>
              <a:gd name="adj" fmla="val 6667"/>
            </a:avLst>
          </a:prstGeom>
          <a:solidFill>
            <a:srgbClr val="EAE8F3"/>
          </a:solidFill>
          <a:ln/>
        </p:spPr>
        <p:txBody>
          <a:bodyPr/>
          <a:lstStyle/>
          <a:p>
            <a:endParaRPr lang="en-US" dirty="0"/>
          </a:p>
        </p:txBody>
      </p:sp>
      <p:sp>
        <p:nvSpPr>
          <p:cNvPr id="7" name="Text 5"/>
          <p:cNvSpPr/>
          <p:nvPr/>
        </p:nvSpPr>
        <p:spPr>
          <a:xfrm>
            <a:off x="6535579" y="3660960"/>
            <a:ext cx="3175516" cy="354330"/>
          </a:xfrm>
          <a:prstGeom prst="rect">
            <a:avLst/>
          </a:prstGeom>
          <a:noFill/>
          <a:ln/>
        </p:spPr>
        <p:txBody>
          <a:bodyPr wrap="none" lIns="0" tIns="0" rIns="0" bIns="0" rtlCol="0" anchor="t"/>
          <a:lstStyle/>
          <a:p>
            <a:pPr marL="0" indent="0" algn="l">
              <a:lnSpc>
                <a:spcPts val="2750"/>
              </a:lnSpc>
              <a:buNone/>
            </a:pPr>
            <a:r>
              <a:rPr lang="en-US" sz="2200" dirty="0">
                <a:solidFill>
                  <a:srgbClr val="49495A"/>
                </a:solidFill>
                <a:latin typeface="Libre Baskerville" pitchFamily="34" charset="0"/>
                <a:ea typeface="Libre Baskerville" pitchFamily="34" charset="-122"/>
                <a:cs typeface="Libre Baskerville" pitchFamily="34" charset="-120"/>
              </a:rPr>
              <a:t>Developing Countries</a:t>
            </a:r>
            <a:endParaRPr lang="en-US" sz="2200" dirty="0"/>
          </a:p>
        </p:txBody>
      </p:sp>
      <p:sp>
        <p:nvSpPr>
          <p:cNvPr id="8" name="Text 6"/>
          <p:cNvSpPr/>
          <p:nvPr/>
        </p:nvSpPr>
        <p:spPr>
          <a:xfrm>
            <a:off x="6535579" y="4135503"/>
            <a:ext cx="3421499" cy="1451610"/>
          </a:xfrm>
          <a:prstGeom prst="rect">
            <a:avLst/>
          </a:prstGeom>
          <a:noFill/>
          <a:ln/>
        </p:spPr>
        <p:txBody>
          <a:bodyPr wrap="square" lIns="0" tIns="0" rIns="0" bIns="0" rtlCol="0" anchor="t"/>
          <a:lstStyle/>
          <a:p>
            <a:pPr marL="0" indent="0" algn="l">
              <a:lnSpc>
                <a:spcPts val="2850"/>
              </a:lnSpc>
              <a:buNone/>
            </a:pPr>
            <a:r>
              <a:rPr lang="en-US" sz="1750" dirty="0">
                <a:solidFill>
                  <a:srgbClr val="49495A"/>
                </a:solidFill>
                <a:latin typeface="Open Sans" pitchFamily="34" charset="0"/>
                <a:ea typeface="Open Sans" pitchFamily="34" charset="-122"/>
                <a:cs typeface="Open Sans" pitchFamily="34" charset="-120"/>
              </a:rPr>
              <a:t>Platforms like PropertyPro and BuyRentKenya reduce broker dependency and improve rental efficiency.</a:t>
            </a:r>
            <a:endParaRPr lang="en-US" sz="1750" dirty="0"/>
          </a:p>
        </p:txBody>
      </p:sp>
      <p:sp>
        <p:nvSpPr>
          <p:cNvPr id="11" name="Text 9"/>
          <p:cNvSpPr/>
          <p:nvPr/>
        </p:nvSpPr>
        <p:spPr>
          <a:xfrm>
            <a:off x="10415111" y="4197548"/>
            <a:ext cx="3421499" cy="1451610"/>
          </a:xfrm>
          <a:prstGeom prst="rect">
            <a:avLst/>
          </a:prstGeom>
          <a:noFill/>
          <a:ln/>
        </p:spPr>
        <p:txBody>
          <a:bodyPr wrap="square" lIns="0" tIns="0" rIns="0" bIns="0" rtlCol="0" anchor="t"/>
          <a:lstStyle/>
          <a:p>
            <a:pPr marL="0" indent="0" algn="l">
              <a:lnSpc>
                <a:spcPts val="2850"/>
              </a:lnSpc>
              <a:buNone/>
            </a:pPr>
            <a:endParaRPr lang="en-US" sz="1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841177"/>
            <a:ext cx="7556421" cy="1417558"/>
          </a:xfrm>
          <a:prstGeom prst="rect">
            <a:avLst/>
          </a:prstGeom>
          <a:noFill/>
          <a:ln/>
        </p:spPr>
        <p:txBody>
          <a:bodyPr wrap="square" lIns="0" tIns="0" rIns="0" bIns="0" rtlCol="0" anchor="t"/>
          <a:lstStyle/>
          <a:p>
            <a:pPr marL="0" indent="0" algn="l">
              <a:lnSpc>
                <a:spcPts val="5550"/>
              </a:lnSpc>
              <a:buNone/>
            </a:pPr>
            <a:r>
              <a:rPr lang="en-US" sz="4450" dirty="0">
                <a:solidFill>
                  <a:srgbClr val="403CCF"/>
                </a:solidFill>
                <a:latin typeface="Libre Baskerville" pitchFamily="34" charset="0"/>
                <a:ea typeface="Libre Baskerville" pitchFamily="34" charset="-122"/>
                <a:cs typeface="Libre Baskerville" pitchFamily="34" charset="-120"/>
              </a:rPr>
              <a:t>Methodology: Design and Development Phases</a:t>
            </a:r>
            <a:endParaRPr lang="en-US" sz="4450" dirty="0"/>
          </a:p>
        </p:txBody>
      </p:sp>
      <p:sp>
        <p:nvSpPr>
          <p:cNvPr id="4" name="Shape 1"/>
          <p:cNvSpPr/>
          <p:nvPr/>
        </p:nvSpPr>
        <p:spPr>
          <a:xfrm>
            <a:off x="1048941" y="2598896"/>
            <a:ext cx="30480" cy="4789527"/>
          </a:xfrm>
          <a:prstGeom prst="roundRect">
            <a:avLst>
              <a:gd name="adj" fmla="val 111628"/>
            </a:avLst>
          </a:prstGeom>
          <a:solidFill>
            <a:srgbClr val="D0CED9"/>
          </a:solidFill>
          <a:ln/>
        </p:spPr>
      </p:sp>
      <p:sp>
        <p:nvSpPr>
          <p:cNvPr id="5" name="Shape 2"/>
          <p:cNvSpPr/>
          <p:nvPr/>
        </p:nvSpPr>
        <p:spPr>
          <a:xfrm>
            <a:off x="1273612" y="2838807"/>
            <a:ext cx="680442" cy="30480"/>
          </a:xfrm>
          <a:prstGeom prst="roundRect">
            <a:avLst>
              <a:gd name="adj" fmla="val 111628"/>
            </a:avLst>
          </a:prstGeom>
          <a:solidFill>
            <a:srgbClr val="D0CED9"/>
          </a:solidFill>
          <a:ln/>
        </p:spPr>
      </p:sp>
      <p:sp>
        <p:nvSpPr>
          <p:cNvPr id="6" name="Shape 3"/>
          <p:cNvSpPr/>
          <p:nvPr/>
        </p:nvSpPr>
        <p:spPr>
          <a:xfrm>
            <a:off x="793790" y="2598896"/>
            <a:ext cx="510302" cy="510302"/>
          </a:xfrm>
          <a:prstGeom prst="roundRect">
            <a:avLst>
              <a:gd name="adj" fmla="val 6667"/>
            </a:avLst>
          </a:prstGeom>
          <a:solidFill>
            <a:srgbClr val="EAE8F3"/>
          </a:solidFill>
          <a:ln/>
        </p:spPr>
      </p:sp>
      <p:sp>
        <p:nvSpPr>
          <p:cNvPr id="7" name="Text 4"/>
          <p:cNvSpPr/>
          <p:nvPr/>
        </p:nvSpPr>
        <p:spPr>
          <a:xfrm>
            <a:off x="878860" y="2641402"/>
            <a:ext cx="340162" cy="425291"/>
          </a:xfrm>
          <a:prstGeom prst="rect">
            <a:avLst/>
          </a:prstGeom>
          <a:noFill/>
          <a:ln/>
        </p:spPr>
        <p:txBody>
          <a:bodyPr wrap="none" lIns="0" tIns="0" rIns="0" bIns="0" rtlCol="0" anchor="t"/>
          <a:lstStyle/>
          <a:p>
            <a:pPr marL="0" indent="0" algn="ctr">
              <a:lnSpc>
                <a:spcPts val="2650"/>
              </a:lnSpc>
              <a:buNone/>
            </a:pPr>
            <a:r>
              <a:rPr lang="en-US" sz="2650" dirty="0">
                <a:solidFill>
                  <a:srgbClr val="49495A"/>
                </a:solidFill>
                <a:latin typeface="Libre Baskerville" pitchFamily="34" charset="0"/>
                <a:ea typeface="Libre Baskerville" pitchFamily="34" charset="-122"/>
                <a:cs typeface="Libre Baskerville" pitchFamily="34" charset="-120"/>
              </a:rPr>
              <a:t>1</a:t>
            </a:r>
            <a:endParaRPr lang="en-US" sz="2650" dirty="0"/>
          </a:p>
        </p:txBody>
      </p:sp>
      <p:sp>
        <p:nvSpPr>
          <p:cNvPr id="8" name="Text 5"/>
          <p:cNvSpPr/>
          <p:nvPr/>
        </p:nvSpPr>
        <p:spPr>
          <a:xfrm>
            <a:off x="2183011" y="2676763"/>
            <a:ext cx="3161348" cy="354330"/>
          </a:xfrm>
          <a:prstGeom prst="rect">
            <a:avLst/>
          </a:prstGeom>
          <a:noFill/>
          <a:ln/>
        </p:spPr>
        <p:txBody>
          <a:bodyPr wrap="none" lIns="0" tIns="0" rIns="0" bIns="0" rtlCol="0" anchor="t"/>
          <a:lstStyle/>
          <a:p>
            <a:pPr marL="0" indent="0" algn="l">
              <a:lnSpc>
                <a:spcPts val="2750"/>
              </a:lnSpc>
              <a:buNone/>
            </a:pPr>
            <a:r>
              <a:rPr lang="en-US" sz="2200" dirty="0">
                <a:solidFill>
                  <a:srgbClr val="49495A"/>
                </a:solidFill>
                <a:latin typeface="Libre Baskerville" pitchFamily="34" charset="0"/>
                <a:ea typeface="Libre Baskerville" pitchFamily="34" charset="-122"/>
                <a:cs typeface="Libre Baskerville" pitchFamily="34" charset="-120"/>
              </a:rPr>
              <a:t>Design &amp; Prototyping</a:t>
            </a:r>
            <a:endParaRPr lang="en-US" sz="2200" dirty="0"/>
          </a:p>
        </p:txBody>
      </p:sp>
      <p:sp>
        <p:nvSpPr>
          <p:cNvPr id="9" name="Text 6"/>
          <p:cNvSpPr/>
          <p:nvPr/>
        </p:nvSpPr>
        <p:spPr>
          <a:xfrm>
            <a:off x="2183011" y="3167182"/>
            <a:ext cx="6167199" cy="725805"/>
          </a:xfrm>
          <a:prstGeom prst="rect">
            <a:avLst/>
          </a:prstGeom>
          <a:noFill/>
          <a:ln/>
        </p:spPr>
        <p:txBody>
          <a:bodyPr wrap="square" lIns="0" tIns="0" rIns="0" bIns="0" rtlCol="0" anchor="t"/>
          <a:lstStyle/>
          <a:p>
            <a:pPr marL="0" indent="0" algn="l">
              <a:lnSpc>
                <a:spcPts val="2850"/>
              </a:lnSpc>
              <a:buNone/>
            </a:pPr>
            <a:r>
              <a:rPr lang="en-US" sz="1750" dirty="0">
                <a:solidFill>
                  <a:srgbClr val="49495A"/>
                </a:solidFill>
                <a:latin typeface="Open Sans" pitchFamily="34" charset="0"/>
                <a:ea typeface="Open Sans" pitchFamily="34" charset="-122"/>
                <a:cs typeface="Open Sans" pitchFamily="34" charset="-120"/>
              </a:rPr>
              <a:t>Wireframing and interactive prototypes ensure intuitive user experience using tools like Figma.</a:t>
            </a:r>
            <a:endParaRPr lang="en-US" sz="1750" dirty="0"/>
          </a:p>
        </p:txBody>
      </p:sp>
      <p:sp>
        <p:nvSpPr>
          <p:cNvPr id="10" name="Shape 7"/>
          <p:cNvSpPr/>
          <p:nvPr/>
        </p:nvSpPr>
        <p:spPr>
          <a:xfrm>
            <a:off x="1273612" y="4586526"/>
            <a:ext cx="680442" cy="30480"/>
          </a:xfrm>
          <a:prstGeom prst="roundRect">
            <a:avLst>
              <a:gd name="adj" fmla="val 111628"/>
            </a:avLst>
          </a:prstGeom>
          <a:solidFill>
            <a:srgbClr val="D0CED9"/>
          </a:solidFill>
          <a:ln/>
        </p:spPr>
      </p:sp>
      <p:sp>
        <p:nvSpPr>
          <p:cNvPr id="11" name="Shape 8"/>
          <p:cNvSpPr/>
          <p:nvPr/>
        </p:nvSpPr>
        <p:spPr>
          <a:xfrm>
            <a:off x="793790" y="4346615"/>
            <a:ext cx="510302" cy="510302"/>
          </a:xfrm>
          <a:prstGeom prst="roundRect">
            <a:avLst>
              <a:gd name="adj" fmla="val 6667"/>
            </a:avLst>
          </a:prstGeom>
          <a:solidFill>
            <a:srgbClr val="EAE8F3"/>
          </a:solidFill>
          <a:ln/>
        </p:spPr>
      </p:sp>
      <p:sp>
        <p:nvSpPr>
          <p:cNvPr id="12" name="Text 9"/>
          <p:cNvSpPr/>
          <p:nvPr/>
        </p:nvSpPr>
        <p:spPr>
          <a:xfrm>
            <a:off x="878860" y="4389120"/>
            <a:ext cx="340162" cy="425291"/>
          </a:xfrm>
          <a:prstGeom prst="rect">
            <a:avLst/>
          </a:prstGeom>
          <a:noFill/>
          <a:ln/>
        </p:spPr>
        <p:txBody>
          <a:bodyPr wrap="none" lIns="0" tIns="0" rIns="0" bIns="0" rtlCol="0" anchor="t"/>
          <a:lstStyle/>
          <a:p>
            <a:pPr marL="0" indent="0" algn="ctr">
              <a:lnSpc>
                <a:spcPts val="2650"/>
              </a:lnSpc>
              <a:buNone/>
            </a:pPr>
            <a:r>
              <a:rPr lang="en-US" sz="2650" dirty="0">
                <a:solidFill>
                  <a:srgbClr val="49495A"/>
                </a:solidFill>
                <a:latin typeface="Libre Baskerville" pitchFamily="34" charset="0"/>
                <a:ea typeface="Libre Baskerville" pitchFamily="34" charset="-122"/>
                <a:cs typeface="Libre Baskerville" pitchFamily="34" charset="-120"/>
              </a:rPr>
              <a:t>2</a:t>
            </a:r>
            <a:endParaRPr lang="en-US" sz="2650" dirty="0"/>
          </a:p>
        </p:txBody>
      </p:sp>
      <p:sp>
        <p:nvSpPr>
          <p:cNvPr id="13" name="Text 10"/>
          <p:cNvSpPr/>
          <p:nvPr/>
        </p:nvSpPr>
        <p:spPr>
          <a:xfrm>
            <a:off x="2183011" y="4424482"/>
            <a:ext cx="3414117" cy="354330"/>
          </a:xfrm>
          <a:prstGeom prst="rect">
            <a:avLst/>
          </a:prstGeom>
          <a:noFill/>
          <a:ln/>
        </p:spPr>
        <p:txBody>
          <a:bodyPr wrap="none" lIns="0" tIns="0" rIns="0" bIns="0" rtlCol="0" anchor="t"/>
          <a:lstStyle/>
          <a:p>
            <a:pPr marL="0" indent="0" algn="l">
              <a:lnSpc>
                <a:spcPts val="2750"/>
              </a:lnSpc>
              <a:buNone/>
            </a:pPr>
            <a:r>
              <a:rPr lang="en-US" sz="2200" dirty="0">
                <a:solidFill>
                  <a:srgbClr val="49495A"/>
                </a:solidFill>
                <a:latin typeface="Libre Baskerville" pitchFamily="34" charset="0"/>
                <a:ea typeface="Libre Baskerville" pitchFamily="34" charset="-122"/>
                <a:cs typeface="Libre Baskerville" pitchFamily="34" charset="-120"/>
              </a:rPr>
              <a:t>Frontend Development</a:t>
            </a:r>
            <a:endParaRPr lang="en-US" sz="2200" dirty="0"/>
          </a:p>
        </p:txBody>
      </p:sp>
      <p:sp>
        <p:nvSpPr>
          <p:cNvPr id="14" name="Text 11"/>
          <p:cNvSpPr/>
          <p:nvPr/>
        </p:nvSpPr>
        <p:spPr>
          <a:xfrm>
            <a:off x="2183011" y="4914900"/>
            <a:ext cx="6167199" cy="725805"/>
          </a:xfrm>
          <a:prstGeom prst="rect">
            <a:avLst/>
          </a:prstGeom>
          <a:noFill/>
          <a:ln/>
        </p:spPr>
        <p:txBody>
          <a:bodyPr wrap="square" lIns="0" tIns="0" rIns="0" bIns="0" rtlCol="0" anchor="t"/>
          <a:lstStyle/>
          <a:p>
            <a:pPr marL="0" indent="0" algn="l">
              <a:lnSpc>
                <a:spcPts val="2850"/>
              </a:lnSpc>
              <a:buNone/>
            </a:pPr>
            <a:r>
              <a:rPr lang="en-US" sz="1750" dirty="0">
                <a:solidFill>
                  <a:srgbClr val="49495A"/>
                </a:solidFill>
                <a:latin typeface="Open Sans" pitchFamily="34" charset="0"/>
                <a:ea typeface="Open Sans" pitchFamily="34" charset="-122"/>
                <a:cs typeface="Open Sans" pitchFamily="34" charset="-120"/>
              </a:rPr>
              <a:t>Vue.js creates dynamic interfaces for property search, listings, profiles, and messaging.</a:t>
            </a:r>
            <a:endParaRPr lang="en-US" sz="1750" dirty="0"/>
          </a:p>
        </p:txBody>
      </p:sp>
      <p:sp>
        <p:nvSpPr>
          <p:cNvPr id="15" name="Shape 12"/>
          <p:cNvSpPr/>
          <p:nvPr/>
        </p:nvSpPr>
        <p:spPr>
          <a:xfrm>
            <a:off x="1273612" y="6334244"/>
            <a:ext cx="680442" cy="30480"/>
          </a:xfrm>
          <a:prstGeom prst="roundRect">
            <a:avLst>
              <a:gd name="adj" fmla="val 111628"/>
            </a:avLst>
          </a:prstGeom>
          <a:solidFill>
            <a:srgbClr val="D0CED9"/>
          </a:solidFill>
          <a:ln/>
        </p:spPr>
      </p:sp>
      <p:sp>
        <p:nvSpPr>
          <p:cNvPr id="16" name="Shape 13"/>
          <p:cNvSpPr/>
          <p:nvPr/>
        </p:nvSpPr>
        <p:spPr>
          <a:xfrm>
            <a:off x="793790" y="6094333"/>
            <a:ext cx="510302" cy="510302"/>
          </a:xfrm>
          <a:prstGeom prst="roundRect">
            <a:avLst>
              <a:gd name="adj" fmla="val 6667"/>
            </a:avLst>
          </a:prstGeom>
          <a:solidFill>
            <a:srgbClr val="EAE8F3"/>
          </a:solidFill>
          <a:ln/>
        </p:spPr>
      </p:sp>
      <p:sp>
        <p:nvSpPr>
          <p:cNvPr id="17" name="Text 14"/>
          <p:cNvSpPr/>
          <p:nvPr/>
        </p:nvSpPr>
        <p:spPr>
          <a:xfrm>
            <a:off x="878860" y="6136838"/>
            <a:ext cx="340162" cy="425291"/>
          </a:xfrm>
          <a:prstGeom prst="rect">
            <a:avLst/>
          </a:prstGeom>
          <a:noFill/>
          <a:ln/>
        </p:spPr>
        <p:txBody>
          <a:bodyPr wrap="none" lIns="0" tIns="0" rIns="0" bIns="0" rtlCol="0" anchor="t"/>
          <a:lstStyle/>
          <a:p>
            <a:pPr marL="0" indent="0" algn="ctr">
              <a:lnSpc>
                <a:spcPts val="2650"/>
              </a:lnSpc>
              <a:buNone/>
            </a:pPr>
            <a:r>
              <a:rPr lang="en-US" sz="2650" dirty="0">
                <a:solidFill>
                  <a:srgbClr val="49495A"/>
                </a:solidFill>
                <a:latin typeface="Libre Baskerville" pitchFamily="34" charset="0"/>
                <a:ea typeface="Libre Baskerville" pitchFamily="34" charset="-122"/>
                <a:cs typeface="Libre Baskerville" pitchFamily="34" charset="-120"/>
              </a:rPr>
              <a:t>3</a:t>
            </a:r>
            <a:endParaRPr lang="en-US" sz="2650" dirty="0"/>
          </a:p>
        </p:txBody>
      </p:sp>
      <p:sp>
        <p:nvSpPr>
          <p:cNvPr id="18" name="Text 15"/>
          <p:cNvSpPr/>
          <p:nvPr/>
        </p:nvSpPr>
        <p:spPr>
          <a:xfrm>
            <a:off x="2183011" y="6172200"/>
            <a:ext cx="3297317" cy="354330"/>
          </a:xfrm>
          <a:prstGeom prst="rect">
            <a:avLst/>
          </a:prstGeom>
          <a:noFill/>
          <a:ln/>
        </p:spPr>
        <p:txBody>
          <a:bodyPr wrap="none" lIns="0" tIns="0" rIns="0" bIns="0" rtlCol="0" anchor="t"/>
          <a:lstStyle/>
          <a:p>
            <a:pPr marL="0" indent="0" algn="l">
              <a:lnSpc>
                <a:spcPts val="2750"/>
              </a:lnSpc>
              <a:buNone/>
            </a:pPr>
            <a:r>
              <a:rPr lang="en-US" sz="2200" dirty="0">
                <a:solidFill>
                  <a:srgbClr val="49495A"/>
                </a:solidFill>
                <a:latin typeface="Libre Baskerville" pitchFamily="34" charset="0"/>
                <a:ea typeface="Libre Baskerville" pitchFamily="34" charset="-122"/>
                <a:cs typeface="Libre Baskerville" pitchFamily="34" charset="-120"/>
              </a:rPr>
              <a:t>Backend Development</a:t>
            </a:r>
            <a:endParaRPr lang="en-US" sz="2200" dirty="0"/>
          </a:p>
        </p:txBody>
      </p:sp>
      <p:sp>
        <p:nvSpPr>
          <p:cNvPr id="19" name="Text 16"/>
          <p:cNvSpPr/>
          <p:nvPr/>
        </p:nvSpPr>
        <p:spPr>
          <a:xfrm>
            <a:off x="2183011" y="6662618"/>
            <a:ext cx="6167199" cy="725805"/>
          </a:xfrm>
          <a:prstGeom prst="rect">
            <a:avLst/>
          </a:prstGeom>
          <a:noFill/>
          <a:ln/>
        </p:spPr>
        <p:txBody>
          <a:bodyPr wrap="square" lIns="0" tIns="0" rIns="0" bIns="0" rtlCol="0" anchor="t"/>
          <a:lstStyle/>
          <a:p>
            <a:pPr marL="0" indent="0" algn="l">
              <a:lnSpc>
                <a:spcPts val="2850"/>
              </a:lnSpc>
              <a:buNone/>
            </a:pPr>
            <a:r>
              <a:rPr lang="en-US" sz="1750" dirty="0">
                <a:solidFill>
                  <a:srgbClr val="49495A"/>
                </a:solidFill>
                <a:latin typeface="Open Sans" pitchFamily="34" charset="0"/>
                <a:ea typeface="Open Sans" pitchFamily="34" charset="-122"/>
                <a:cs typeface="Open Sans" pitchFamily="34" charset="-120"/>
              </a:rPr>
              <a:t>Node.js handles server logic, with MongoDB for data storage and RESTful APIs for communication.</a:t>
            </a:r>
            <a:endParaRPr lang="en-US" sz="1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942380"/>
            <a:ext cx="7556421" cy="1417558"/>
          </a:xfrm>
          <a:prstGeom prst="rect">
            <a:avLst/>
          </a:prstGeom>
          <a:noFill/>
          <a:ln/>
        </p:spPr>
        <p:txBody>
          <a:bodyPr wrap="square" lIns="0" tIns="0" rIns="0" bIns="0" rtlCol="0" anchor="t"/>
          <a:lstStyle/>
          <a:p>
            <a:pPr marL="0" indent="0" algn="l">
              <a:lnSpc>
                <a:spcPts val="5550"/>
              </a:lnSpc>
              <a:buNone/>
            </a:pPr>
            <a:r>
              <a:rPr lang="en-US" sz="4450" dirty="0">
                <a:solidFill>
                  <a:srgbClr val="403CCF"/>
                </a:solidFill>
                <a:latin typeface="Libre Baskerville" pitchFamily="34" charset="0"/>
                <a:ea typeface="Libre Baskerville" pitchFamily="34" charset="-122"/>
                <a:cs typeface="Libre Baskerville" pitchFamily="34" charset="-120"/>
              </a:rPr>
              <a:t>Testing and Deployment Strategy</a:t>
            </a:r>
            <a:endParaRPr lang="en-US" sz="4450" dirty="0"/>
          </a:p>
        </p:txBody>
      </p:sp>
      <p:pic>
        <p:nvPicPr>
          <p:cNvPr id="4" name="Image 1" descr="preencoded.png"/>
          <p:cNvPicPr>
            <a:picLocks noChangeAspect="1"/>
          </p:cNvPicPr>
          <p:nvPr/>
        </p:nvPicPr>
        <p:blipFill>
          <a:blip r:embed="rId4"/>
          <a:stretch>
            <a:fillRect/>
          </a:stretch>
        </p:blipFill>
        <p:spPr>
          <a:xfrm>
            <a:off x="793790" y="2700099"/>
            <a:ext cx="1134070" cy="2917150"/>
          </a:xfrm>
          <a:prstGeom prst="rect">
            <a:avLst/>
          </a:prstGeom>
        </p:spPr>
      </p:pic>
      <p:sp>
        <p:nvSpPr>
          <p:cNvPr id="5" name="Text 1"/>
          <p:cNvSpPr/>
          <p:nvPr/>
        </p:nvSpPr>
        <p:spPr>
          <a:xfrm>
            <a:off x="2268022" y="2926913"/>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49495A"/>
                </a:solidFill>
                <a:latin typeface="Libre Baskerville" pitchFamily="34" charset="0"/>
                <a:ea typeface="Libre Baskerville" pitchFamily="34" charset="-122"/>
                <a:cs typeface="Libre Baskerville" pitchFamily="34" charset="-120"/>
              </a:rPr>
              <a:t>Testing</a:t>
            </a:r>
            <a:endParaRPr lang="en-US" sz="2200" dirty="0"/>
          </a:p>
        </p:txBody>
      </p:sp>
      <p:sp>
        <p:nvSpPr>
          <p:cNvPr id="6" name="Text 2"/>
          <p:cNvSpPr/>
          <p:nvPr/>
        </p:nvSpPr>
        <p:spPr>
          <a:xfrm>
            <a:off x="2268022" y="3417332"/>
            <a:ext cx="6082189" cy="72580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49495A"/>
                </a:solidFill>
                <a:latin typeface="Open Sans" pitchFamily="34" charset="0"/>
                <a:ea typeface="Open Sans" pitchFamily="34" charset="-122"/>
                <a:cs typeface="Open Sans" pitchFamily="34" charset="-120"/>
              </a:rPr>
              <a:t>Unit testing ensures individual features work correctly.</a:t>
            </a:r>
            <a:endParaRPr lang="en-US" sz="1750" dirty="0"/>
          </a:p>
        </p:txBody>
      </p:sp>
      <p:sp>
        <p:nvSpPr>
          <p:cNvPr id="7" name="Text 3"/>
          <p:cNvSpPr/>
          <p:nvPr/>
        </p:nvSpPr>
        <p:spPr>
          <a:xfrm>
            <a:off x="2268022" y="4222433"/>
            <a:ext cx="6082189" cy="72580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49495A"/>
                </a:solidFill>
                <a:latin typeface="Open Sans" pitchFamily="34" charset="0"/>
                <a:ea typeface="Open Sans" pitchFamily="34" charset="-122"/>
                <a:cs typeface="Open Sans" pitchFamily="34" charset="-120"/>
              </a:rPr>
              <a:t>Integration testing verifies seamless interaction between components.</a:t>
            </a:r>
            <a:endParaRPr lang="en-US" sz="1750" dirty="0"/>
          </a:p>
        </p:txBody>
      </p:sp>
      <p:sp>
        <p:nvSpPr>
          <p:cNvPr id="8" name="Text 4"/>
          <p:cNvSpPr/>
          <p:nvPr/>
        </p:nvSpPr>
        <p:spPr>
          <a:xfrm>
            <a:off x="2268022" y="5027533"/>
            <a:ext cx="6082189"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49495A"/>
                </a:solidFill>
                <a:latin typeface="Open Sans" pitchFamily="34" charset="0"/>
                <a:ea typeface="Open Sans" pitchFamily="34" charset="-122"/>
                <a:cs typeface="Open Sans" pitchFamily="34" charset="-120"/>
              </a:rPr>
              <a:t>Bug fixing and refinement improve user satisfaction.</a:t>
            </a:r>
            <a:endParaRPr lang="en-US" sz="1750" dirty="0"/>
          </a:p>
        </p:txBody>
      </p:sp>
      <p:pic>
        <p:nvPicPr>
          <p:cNvPr id="9" name="Image 2" descr="preencoded.png"/>
          <p:cNvPicPr>
            <a:picLocks noChangeAspect="1"/>
          </p:cNvPicPr>
          <p:nvPr/>
        </p:nvPicPr>
        <p:blipFill>
          <a:blip r:embed="rId5"/>
          <a:stretch>
            <a:fillRect/>
          </a:stretch>
        </p:blipFill>
        <p:spPr>
          <a:xfrm>
            <a:off x="793790" y="5628825"/>
            <a:ext cx="1134070" cy="1669852"/>
          </a:xfrm>
          <a:prstGeom prst="rect">
            <a:avLst/>
          </a:prstGeom>
        </p:spPr>
      </p:pic>
      <p:sp>
        <p:nvSpPr>
          <p:cNvPr id="10" name="Text 5"/>
          <p:cNvSpPr/>
          <p:nvPr/>
        </p:nvSpPr>
        <p:spPr>
          <a:xfrm>
            <a:off x="2268022" y="5844064"/>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49495A"/>
                </a:solidFill>
                <a:latin typeface="Libre Baskerville" pitchFamily="34" charset="0"/>
                <a:ea typeface="Libre Baskerville" pitchFamily="34" charset="-122"/>
                <a:cs typeface="Libre Baskerville" pitchFamily="34" charset="-120"/>
              </a:rPr>
              <a:t>Deployment</a:t>
            </a:r>
            <a:endParaRPr lang="en-US" sz="2200" dirty="0"/>
          </a:p>
        </p:txBody>
      </p:sp>
      <p:sp>
        <p:nvSpPr>
          <p:cNvPr id="11" name="Text 6"/>
          <p:cNvSpPr/>
          <p:nvPr/>
        </p:nvSpPr>
        <p:spPr>
          <a:xfrm>
            <a:off x="2268022" y="6334482"/>
            <a:ext cx="6082189" cy="725805"/>
          </a:xfrm>
          <a:prstGeom prst="rect">
            <a:avLst/>
          </a:prstGeom>
          <a:noFill/>
          <a:ln/>
        </p:spPr>
        <p:txBody>
          <a:bodyPr wrap="square" lIns="0" tIns="0" rIns="0" bIns="0" rtlCol="0" anchor="t"/>
          <a:lstStyle/>
          <a:p>
            <a:pPr marL="0" indent="0" algn="l">
              <a:lnSpc>
                <a:spcPts val="2850"/>
              </a:lnSpc>
              <a:buNone/>
            </a:pPr>
            <a:r>
              <a:rPr lang="en-US" sz="1750" dirty="0">
                <a:solidFill>
                  <a:srgbClr val="49495A"/>
                </a:solidFill>
                <a:latin typeface="Open Sans" pitchFamily="34" charset="0"/>
                <a:ea typeface="Open Sans" pitchFamily="34" charset="-122"/>
                <a:cs typeface="Open Sans" pitchFamily="34" charset="-120"/>
              </a:rPr>
              <a:t>Final testing in staging followed by cloud hosting on Netlify for scalability and reliability.</a:t>
            </a:r>
            <a:endParaRPr lang="en-US" sz="1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2301954"/>
            <a:ext cx="10741938" cy="708779"/>
          </a:xfrm>
          <a:prstGeom prst="rect">
            <a:avLst/>
          </a:prstGeom>
          <a:noFill/>
          <a:ln/>
        </p:spPr>
        <p:txBody>
          <a:bodyPr wrap="none" lIns="0" tIns="0" rIns="0" bIns="0" rtlCol="0" anchor="t"/>
          <a:lstStyle/>
          <a:p>
            <a:pPr marL="0" indent="0" algn="l">
              <a:lnSpc>
                <a:spcPts val="5550"/>
              </a:lnSpc>
              <a:buNone/>
            </a:pPr>
            <a:r>
              <a:rPr lang="en-US" sz="4450" dirty="0">
                <a:solidFill>
                  <a:srgbClr val="403CCF"/>
                </a:solidFill>
                <a:latin typeface="Libre Baskerville" pitchFamily="34" charset="0"/>
                <a:ea typeface="Libre Baskerville" pitchFamily="34" charset="-122"/>
                <a:cs typeface="Libre Baskerville" pitchFamily="34" charset="-120"/>
              </a:rPr>
              <a:t>Project Scope and Extended Features</a:t>
            </a:r>
            <a:endParaRPr lang="en-US" sz="4450" dirty="0"/>
          </a:p>
        </p:txBody>
      </p:sp>
      <p:sp>
        <p:nvSpPr>
          <p:cNvPr id="3" name="Text 1"/>
          <p:cNvSpPr/>
          <p:nvPr/>
        </p:nvSpPr>
        <p:spPr>
          <a:xfrm>
            <a:off x="793790" y="3577709"/>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403CCF"/>
                </a:solidFill>
                <a:latin typeface="Libre Baskerville" pitchFamily="34" charset="0"/>
                <a:ea typeface="Libre Baskerville" pitchFamily="34" charset="-122"/>
                <a:cs typeface="Libre Baskerville" pitchFamily="34" charset="-120"/>
              </a:rPr>
              <a:t>Core Features</a:t>
            </a:r>
            <a:endParaRPr lang="en-US" sz="2200" dirty="0"/>
          </a:p>
        </p:txBody>
      </p:sp>
      <p:sp>
        <p:nvSpPr>
          <p:cNvPr id="4" name="Text 2"/>
          <p:cNvSpPr/>
          <p:nvPr/>
        </p:nvSpPr>
        <p:spPr>
          <a:xfrm>
            <a:off x="793790" y="4158853"/>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49495A"/>
                </a:solidFill>
                <a:latin typeface="Open Sans" pitchFamily="34" charset="0"/>
                <a:ea typeface="Open Sans" pitchFamily="34" charset="-122"/>
                <a:cs typeface="Open Sans" pitchFamily="34" charset="-120"/>
              </a:rPr>
              <a:t>Property listing with details and images.</a:t>
            </a:r>
            <a:endParaRPr lang="en-US" sz="1750" dirty="0"/>
          </a:p>
        </p:txBody>
      </p:sp>
      <p:sp>
        <p:nvSpPr>
          <p:cNvPr id="5" name="Text 3"/>
          <p:cNvSpPr/>
          <p:nvPr/>
        </p:nvSpPr>
        <p:spPr>
          <a:xfrm>
            <a:off x="793790" y="4601051"/>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49495A"/>
                </a:solidFill>
                <a:latin typeface="Open Sans" pitchFamily="34" charset="0"/>
                <a:ea typeface="Open Sans" pitchFamily="34" charset="-122"/>
                <a:cs typeface="Open Sans" pitchFamily="34" charset="-120"/>
              </a:rPr>
              <a:t>User registration and secure login.</a:t>
            </a:r>
            <a:endParaRPr lang="en-US" sz="1750" dirty="0"/>
          </a:p>
        </p:txBody>
      </p:sp>
      <p:sp>
        <p:nvSpPr>
          <p:cNvPr id="6" name="Text 4"/>
          <p:cNvSpPr/>
          <p:nvPr/>
        </p:nvSpPr>
        <p:spPr>
          <a:xfrm>
            <a:off x="793790" y="5043249"/>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49495A"/>
                </a:solidFill>
                <a:latin typeface="Open Sans" pitchFamily="34" charset="0"/>
                <a:ea typeface="Open Sans" pitchFamily="34" charset="-122"/>
                <a:cs typeface="Open Sans" pitchFamily="34" charset="-120"/>
              </a:rPr>
              <a:t>Search and filtering options.</a:t>
            </a:r>
            <a:endParaRPr lang="en-US" sz="1750" dirty="0"/>
          </a:p>
        </p:txBody>
      </p:sp>
      <p:sp>
        <p:nvSpPr>
          <p:cNvPr id="7" name="Text 5"/>
          <p:cNvSpPr/>
          <p:nvPr/>
        </p:nvSpPr>
        <p:spPr>
          <a:xfrm>
            <a:off x="7599520" y="5927647"/>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49495A"/>
                </a:solidFill>
                <a:latin typeface="Open Sans" pitchFamily="34" charset="0"/>
                <a:ea typeface="Open Sans" pitchFamily="34" charset="-122"/>
                <a:cs typeface="Open Sans" pitchFamily="34" charset="-120"/>
              </a:rPr>
              <a:t>Messaging system for communication.</a:t>
            </a:r>
            <a:endParaRPr lang="en-US" sz="1750" dirty="0"/>
          </a:p>
        </p:txBody>
      </p:sp>
      <p:sp>
        <p:nvSpPr>
          <p:cNvPr id="8" name="Text 6"/>
          <p:cNvSpPr/>
          <p:nvPr/>
        </p:nvSpPr>
        <p:spPr>
          <a:xfrm>
            <a:off x="7599521" y="3577709"/>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403CCF"/>
                </a:solidFill>
                <a:latin typeface="Libre Baskerville" pitchFamily="34" charset="0"/>
                <a:ea typeface="Libre Baskerville" pitchFamily="34" charset="-122"/>
                <a:cs typeface="Libre Baskerville" pitchFamily="34" charset="-120"/>
              </a:rPr>
              <a:t>Extended Features</a:t>
            </a:r>
            <a:endParaRPr lang="en-US" sz="2200" dirty="0"/>
          </a:p>
        </p:txBody>
      </p:sp>
      <p:sp>
        <p:nvSpPr>
          <p:cNvPr id="9" name="Text 7"/>
          <p:cNvSpPr/>
          <p:nvPr/>
        </p:nvSpPr>
        <p:spPr>
          <a:xfrm>
            <a:off x="7599521" y="4158853"/>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49495A"/>
                </a:solidFill>
                <a:latin typeface="Open Sans" pitchFamily="34" charset="0"/>
                <a:ea typeface="Open Sans" pitchFamily="34" charset="-122"/>
                <a:cs typeface="Open Sans" pitchFamily="34" charset="-120"/>
              </a:rPr>
              <a:t>Secure payment gateway with escrow.</a:t>
            </a:r>
            <a:endParaRPr lang="en-US" sz="1750" dirty="0"/>
          </a:p>
        </p:txBody>
      </p:sp>
      <p:sp>
        <p:nvSpPr>
          <p:cNvPr id="10" name="Text 8"/>
          <p:cNvSpPr/>
          <p:nvPr/>
        </p:nvSpPr>
        <p:spPr>
          <a:xfrm>
            <a:off x="7599521" y="4601051"/>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49495A"/>
                </a:solidFill>
                <a:latin typeface="Open Sans" pitchFamily="34" charset="0"/>
                <a:ea typeface="Open Sans" pitchFamily="34" charset="-122"/>
                <a:cs typeface="Open Sans" pitchFamily="34" charset="-120"/>
              </a:rPr>
              <a:t>Identity verification for users.</a:t>
            </a:r>
            <a:endParaRPr lang="en-US" sz="1750" dirty="0"/>
          </a:p>
        </p:txBody>
      </p:sp>
      <p:sp>
        <p:nvSpPr>
          <p:cNvPr id="11" name="Text 9"/>
          <p:cNvSpPr/>
          <p:nvPr/>
        </p:nvSpPr>
        <p:spPr>
          <a:xfrm>
            <a:off x="7599521" y="5043249"/>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49495A"/>
                </a:solidFill>
                <a:latin typeface="Open Sans" pitchFamily="34" charset="0"/>
                <a:ea typeface="Open Sans" pitchFamily="34" charset="-122"/>
                <a:cs typeface="Open Sans" pitchFamily="34" charset="-120"/>
              </a:rPr>
              <a:t>User reviews and ratings.</a:t>
            </a:r>
            <a:endParaRPr lang="en-US" sz="1750" dirty="0"/>
          </a:p>
        </p:txBody>
      </p:sp>
      <p:sp>
        <p:nvSpPr>
          <p:cNvPr id="12" name="Text 10"/>
          <p:cNvSpPr/>
          <p:nvPr/>
        </p:nvSpPr>
        <p:spPr>
          <a:xfrm>
            <a:off x="7599521" y="5485448"/>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49495A"/>
                </a:solidFill>
                <a:latin typeface="Open Sans" pitchFamily="34" charset="0"/>
                <a:ea typeface="Open Sans" pitchFamily="34" charset="-122"/>
                <a:cs typeface="Open Sans" pitchFamily="34" charset="-120"/>
              </a:rPr>
              <a:t>AI-based property recommendations.</a:t>
            </a:r>
            <a:endParaRPr lang="en-US" sz="1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ext 0"/>
          <p:cNvSpPr/>
          <p:nvPr/>
        </p:nvSpPr>
        <p:spPr>
          <a:xfrm>
            <a:off x="793790" y="912614"/>
            <a:ext cx="10028539" cy="1417558"/>
          </a:xfrm>
          <a:prstGeom prst="rect">
            <a:avLst/>
          </a:prstGeom>
          <a:noFill/>
          <a:ln/>
        </p:spPr>
        <p:txBody>
          <a:bodyPr wrap="square" lIns="0" tIns="0" rIns="0" bIns="0" rtlCol="0" anchor="t"/>
          <a:lstStyle/>
          <a:p>
            <a:pPr marL="0" indent="0" algn="l">
              <a:lnSpc>
                <a:spcPts val="5550"/>
              </a:lnSpc>
              <a:buNone/>
            </a:pPr>
            <a:r>
              <a:rPr lang="en-US" sz="4450" dirty="0">
                <a:solidFill>
                  <a:srgbClr val="403CCF"/>
                </a:solidFill>
                <a:latin typeface="Libre Baskerville" pitchFamily="34" charset="0"/>
                <a:ea typeface="Libre Baskerville" pitchFamily="34" charset="-122"/>
                <a:cs typeface="Libre Baskerville" pitchFamily="34" charset="-120"/>
              </a:rPr>
              <a:t>Expected Outcomes and Benefits</a:t>
            </a:r>
            <a:endParaRPr lang="en-US" sz="4450" dirty="0"/>
          </a:p>
        </p:txBody>
      </p:sp>
      <p:sp>
        <p:nvSpPr>
          <p:cNvPr id="4" name="Shape 1"/>
          <p:cNvSpPr/>
          <p:nvPr/>
        </p:nvSpPr>
        <p:spPr>
          <a:xfrm>
            <a:off x="793790" y="2670334"/>
            <a:ext cx="3664863" cy="2749987"/>
          </a:xfrm>
          <a:prstGeom prst="roundRect">
            <a:avLst>
              <a:gd name="adj" fmla="val 1237"/>
            </a:avLst>
          </a:prstGeom>
          <a:solidFill>
            <a:srgbClr val="EAE8F3"/>
          </a:solidFill>
          <a:ln/>
        </p:spPr>
      </p:sp>
      <p:sp>
        <p:nvSpPr>
          <p:cNvPr id="5" name="Text 2"/>
          <p:cNvSpPr/>
          <p:nvPr/>
        </p:nvSpPr>
        <p:spPr>
          <a:xfrm>
            <a:off x="1020604" y="2897148"/>
            <a:ext cx="3211235" cy="708660"/>
          </a:xfrm>
          <a:prstGeom prst="rect">
            <a:avLst/>
          </a:prstGeom>
          <a:noFill/>
          <a:ln/>
        </p:spPr>
        <p:txBody>
          <a:bodyPr wrap="square" lIns="0" tIns="0" rIns="0" bIns="0" rtlCol="0" anchor="t"/>
          <a:lstStyle/>
          <a:p>
            <a:pPr marL="0" indent="0" algn="l">
              <a:lnSpc>
                <a:spcPts val="2750"/>
              </a:lnSpc>
              <a:buNone/>
            </a:pPr>
            <a:r>
              <a:rPr lang="en-US" sz="2200" dirty="0">
                <a:solidFill>
                  <a:srgbClr val="49495A"/>
                </a:solidFill>
                <a:latin typeface="Libre Baskerville" pitchFamily="34" charset="0"/>
                <a:ea typeface="Libre Baskerville" pitchFamily="34" charset="-122"/>
                <a:cs typeface="Libre Baskerville" pitchFamily="34" charset="-120"/>
              </a:rPr>
              <a:t>Centralized Verified Listings</a:t>
            </a:r>
            <a:endParaRPr lang="en-US" sz="2200" dirty="0"/>
          </a:p>
        </p:txBody>
      </p:sp>
      <p:sp>
        <p:nvSpPr>
          <p:cNvPr id="6" name="Text 3"/>
          <p:cNvSpPr/>
          <p:nvPr/>
        </p:nvSpPr>
        <p:spPr>
          <a:xfrm>
            <a:off x="1020604" y="3741896"/>
            <a:ext cx="3211235" cy="1451610"/>
          </a:xfrm>
          <a:prstGeom prst="rect">
            <a:avLst/>
          </a:prstGeom>
          <a:noFill/>
          <a:ln/>
        </p:spPr>
        <p:txBody>
          <a:bodyPr wrap="square" lIns="0" tIns="0" rIns="0" bIns="0" rtlCol="0" anchor="t"/>
          <a:lstStyle/>
          <a:p>
            <a:pPr marL="0" indent="0" algn="l">
              <a:lnSpc>
                <a:spcPts val="2850"/>
              </a:lnSpc>
              <a:buNone/>
            </a:pPr>
            <a:r>
              <a:rPr lang="en-US" sz="1750" dirty="0">
                <a:solidFill>
                  <a:srgbClr val="49495A"/>
                </a:solidFill>
                <a:latin typeface="Open Sans" pitchFamily="34" charset="0"/>
                <a:ea typeface="Open Sans" pitchFamily="34" charset="-122"/>
                <a:cs typeface="Open Sans" pitchFamily="34" charset="-120"/>
              </a:rPr>
              <a:t>Access to trustworthy property data reduces search time and reliance on informal methods.</a:t>
            </a:r>
            <a:endParaRPr lang="en-US" sz="1750" dirty="0"/>
          </a:p>
        </p:txBody>
      </p:sp>
      <p:sp>
        <p:nvSpPr>
          <p:cNvPr id="7" name="Shape 4"/>
          <p:cNvSpPr/>
          <p:nvPr/>
        </p:nvSpPr>
        <p:spPr>
          <a:xfrm>
            <a:off x="4685467" y="2670334"/>
            <a:ext cx="3664863" cy="2749987"/>
          </a:xfrm>
          <a:prstGeom prst="roundRect">
            <a:avLst>
              <a:gd name="adj" fmla="val 1237"/>
            </a:avLst>
          </a:prstGeom>
          <a:solidFill>
            <a:srgbClr val="EAE8F3"/>
          </a:solidFill>
          <a:ln/>
        </p:spPr>
      </p:sp>
      <p:sp>
        <p:nvSpPr>
          <p:cNvPr id="8" name="Text 5"/>
          <p:cNvSpPr/>
          <p:nvPr/>
        </p:nvSpPr>
        <p:spPr>
          <a:xfrm>
            <a:off x="4912281" y="2897148"/>
            <a:ext cx="3211235" cy="708660"/>
          </a:xfrm>
          <a:prstGeom prst="rect">
            <a:avLst/>
          </a:prstGeom>
          <a:noFill/>
          <a:ln/>
        </p:spPr>
        <p:txBody>
          <a:bodyPr wrap="square" lIns="0" tIns="0" rIns="0" bIns="0" rtlCol="0" anchor="t"/>
          <a:lstStyle/>
          <a:p>
            <a:pPr marL="0" indent="0" algn="l">
              <a:lnSpc>
                <a:spcPts val="2750"/>
              </a:lnSpc>
              <a:buNone/>
            </a:pPr>
            <a:r>
              <a:rPr lang="en-US" sz="2200" dirty="0">
                <a:solidFill>
                  <a:srgbClr val="49495A"/>
                </a:solidFill>
                <a:latin typeface="Libre Baskerville" pitchFamily="34" charset="0"/>
                <a:ea typeface="Libre Baskerville" pitchFamily="34" charset="-122"/>
                <a:cs typeface="Libre Baskerville" pitchFamily="34" charset="-120"/>
              </a:rPr>
              <a:t>Cost and Time Efficiency</a:t>
            </a:r>
            <a:endParaRPr lang="en-US" sz="2200" dirty="0"/>
          </a:p>
        </p:txBody>
      </p:sp>
      <p:sp>
        <p:nvSpPr>
          <p:cNvPr id="9" name="Text 6"/>
          <p:cNvSpPr/>
          <p:nvPr/>
        </p:nvSpPr>
        <p:spPr>
          <a:xfrm>
            <a:off x="4912281" y="3741896"/>
            <a:ext cx="3211235" cy="1451610"/>
          </a:xfrm>
          <a:prstGeom prst="rect">
            <a:avLst/>
          </a:prstGeom>
          <a:noFill/>
          <a:ln/>
        </p:spPr>
        <p:txBody>
          <a:bodyPr wrap="square" lIns="0" tIns="0" rIns="0" bIns="0" rtlCol="0" anchor="t"/>
          <a:lstStyle/>
          <a:p>
            <a:pPr marL="0" indent="0" algn="l">
              <a:lnSpc>
                <a:spcPts val="2850"/>
              </a:lnSpc>
              <a:buNone/>
            </a:pPr>
            <a:r>
              <a:rPr lang="en-US" sz="1750" dirty="0">
                <a:solidFill>
                  <a:srgbClr val="49495A"/>
                </a:solidFill>
                <a:latin typeface="Open Sans" pitchFamily="34" charset="0"/>
                <a:ea typeface="Open Sans" pitchFamily="34" charset="-122"/>
                <a:cs typeface="Open Sans" pitchFamily="34" charset="-120"/>
              </a:rPr>
              <a:t>Broker-free access lowers costs; filtering and comparison save time and reduce frustration.</a:t>
            </a:r>
            <a:endParaRPr lang="en-US" sz="1750" dirty="0"/>
          </a:p>
        </p:txBody>
      </p:sp>
      <p:sp>
        <p:nvSpPr>
          <p:cNvPr id="10" name="Shape 7"/>
          <p:cNvSpPr/>
          <p:nvPr/>
        </p:nvSpPr>
        <p:spPr>
          <a:xfrm>
            <a:off x="793790" y="5647134"/>
            <a:ext cx="7556421" cy="1899560"/>
          </a:xfrm>
          <a:prstGeom prst="roundRect">
            <a:avLst>
              <a:gd name="adj" fmla="val 2038"/>
            </a:avLst>
          </a:prstGeom>
          <a:solidFill>
            <a:srgbClr val="EAE8F3"/>
          </a:solidFill>
          <a:ln/>
        </p:spPr>
      </p:sp>
      <p:sp>
        <p:nvSpPr>
          <p:cNvPr id="11" name="Text 8"/>
          <p:cNvSpPr/>
          <p:nvPr/>
        </p:nvSpPr>
        <p:spPr>
          <a:xfrm>
            <a:off x="1020604" y="5873948"/>
            <a:ext cx="5395912" cy="354330"/>
          </a:xfrm>
          <a:prstGeom prst="rect">
            <a:avLst/>
          </a:prstGeom>
          <a:noFill/>
          <a:ln/>
        </p:spPr>
        <p:txBody>
          <a:bodyPr wrap="none" lIns="0" tIns="0" rIns="0" bIns="0" rtlCol="0" anchor="t"/>
          <a:lstStyle/>
          <a:p>
            <a:pPr marL="0" indent="0" algn="l">
              <a:lnSpc>
                <a:spcPts val="2750"/>
              </a:lnSpc>
              <a:buNone/>
            </a:pPr>
            <a:r>
              <a:rPr lang="en-US" sz="2200" dirty="0">
                <a:solidFill>
                  <a:srgbClr val="49495A"/>
                </a:solidFill>
                <a:latin typeface="Libre Baskerville" pitchFamily="34" charset="0"/>
                <a:ea typeface="Libre Baskerville" pitchFamily="34" charset="-122"/>
                <a:cs typeface="Libre Baskerville" pitchFamily="34" charset="-120"/>
              </a:rPr>
              <a:t>Enhanced Trust and Communication</a:t>
            </a:r>
            <a:endParaRPr lang="en-US" sz="2200" dirty="0"/>
          </a:p>
        </p:txBody>
      </p:sp>
      <p:sp>
        <p:nvSpPr>
          <p:cNvPr id="12" name="Text 9"/>
          <p:cNvSpPr/>
          <p:nvPr/>
        </p:nvSpPr>
        <p:spPr>
          <a:xfrm>
            <a:off x="1020604" y="6364367"/>
            <a:ext cx="7102793" cy="725805"/>
          </a:xfrm>
          <a:prstGeom prst="rect">
            <a:avLst/>
          </a:prstGeom>
          <a:noFill/>
          <a:ln/>
        </p:spPr>
        <p:txBody>
          <a:bodyPr wrap="square" lIns="0" tIns="0" rIns="0" bIns="0" rtlCol="0" anchor="t"/>
          <a:lstStyle/>
          <a:p>
            <a:pPr>
              <a:lnSpc>
                <a:spcPts val="2850"/>
              </a:lnSpc>
            </a:pPr>
            <a:r>
              <a:rPr lang="en-US" sz="1750" dirty="0">
                <a:solidFill>
                  <a:schemeClr val="tx2"/>
                </a:solidFill>
                <a:latin typeface="Open Sans" panose="020B0604020202020204" charset="0"/>
                <a:ea typeface="Open Sans" panose="020B0604020202020204" charset="0"/>
                <a:cs typeface="Open Sans" panose="020B0604020202020204" charset="0"/>
              </a:rPr>
              <a:t>The platform empowers renters by giving them direct access to property owners' contact information, eliminating the need for intermediaries.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ext 0"/>
          <p:cNvSpPr/>
          <p:nvPr/>
        </p:nvSpPr>
        <p:spPr>
          <a:xfrm>
            <a:off x="793790" y="1784271"/>
            <a:ext cx="9797045" cy="1417558"/>
          </a:xfrm>
          <a:prstGeom prst="rect">
            <a:avLst/>
          </a:prstGeom>
          <a:noFill/>
          <a:ln/>
        </p:spPr>
        <p:txBody>
          <a:bodyPr wrap="square" lIns="0" tIns="0" rIns="0" bIns="0" rtlCol="0" anchor="t"/>
          <a:lstStyle/>
          <a:p>
            <a:pPr marL="0" indent="0" algn="l">
              <a:lnSpc>
                <a:spcPts val="5550"/>
              </a:lnSpc>
              <a:buNone/>
            </a:pPr>
            <a:r>
              <a:rPr lang="en-US" sz="4450" dirty="0">
                <a:solidFill>
                  <a:srgbClr val="403CCF"/>
                </a:solidFill>
                <a:latin typeface="Libre Baskerville" pitchFamily="34" charset="0"/>
                <a:ea typeface="Libre Baskerville" pitchFamily="34" charset="-122"/>
                <a:cs typeface="Libre Baskerville" pitchFamily="34" charset="-120"/>
              </a:rPr>
              <a:t>Conclusion and Future Prospects</a:t>
            </a:r>
            <a:endParaRPr lang="en-US" sz="4450" dirty="0"/>
          </a:p>
        </p:txBody>
      </p:sp>
      <p:sp>
        <p:nvSpPr>
          <p:cNvPr id="4" name="Text 1"/>
          <p:cNvSpPr/>
          <p:nvPr/>
        </p:nvSpPr>
        <p:spPr>
          <a:xfrm>
            <a:off x="793790" y="3541990"/>
            <a:ext cx="10074838" cy="2903220"/>
          </a:xfrm>
          <a:prstGeom prst="rect">
            <a:avLst/>
          </a:prstGeom>
          <a:noFill/>
          <a:ln/>
        </p:spPr>
        <p:txBody>
          <a:bodyPr wrap="square" lIns="0" tIns="0" rIns="0" bIns="0" rtlCol="0" anchor="t"/>
          <a:lstStyle/>
          <a:p>
            <a:pPr marL="0" indent="0" algn="l">
              <a:lnSpc>
                <a:spcPts val="2850"/>
              </a:lnSpc>
              <a:buNone/>
            </a:pPr>
            <a:r>
              <a:rPr lang="en-US" sz="1750" dirty="0">
                <a:solidFill>
                  <a:srgbClr val="49495A"/>
                </a:solidFill>
                <a:latin typeface="Open Sans" pitchFamily="34" charset="0"/>
                <a:ea typeface="Open Sans" pitchFamily="34" charset="-122"/>
                <a:cs typeface="Open Sans" pitchFamily="34" charset="-120"/>
              </a:rPr>
              <a:t>The proposed digital rental platform addresses Mekelle's rental market inefficiencies by offering a centralized, transparent, and secure system. It simplifies the rental process, reduces costs, and builds trust between renters and property owners. Using modern web technologies and a user-centric approach, the platform is scalable for expansion across Ethiopia. Successful implementation will contribute to the digital transformation of the real estate sector, improving rental experiences and fostering future innovations in the housing market.</a:t>
            </a:r>
            <a:endParaRPr lang="en-US" sz="1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TotalTime>
  <Words>638</Words>
  <Application>Microsoft Office PowerPoint</Application>
  <PresentationFormat>Custom</PresentationFormat>
  <Paragraphs>87</Paragraphs>
  <Slides>11</Slides>
  <Notes>10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Libre Baskerville</vt:lpstr>
      <vt:lpstr>Arial</vt:lpstr>
      <vt:lpstr>Calibri</vt:lpstr>
      <vt:lpstr>Times New Roman</vt:lpstr>
      <vt:lpstr>Open Sans</vt:lpstr>
      <vt:lpstr>Segoe UI Semibold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HP</cp:lastModifiedBy>
  <cp:revision>5</cp:revision>
  <dcterms:created xsi:type="dcterms:W3CDTF">2025-06-04T17:28:02Z</dcterms:created>
  <dcterms:modified xsi:type="dcterms:W3CDTF">2025-06-04T18:01:28Z</dcterms:modified>
</cp:coreProperties>
</file>